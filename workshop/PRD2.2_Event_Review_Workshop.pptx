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20304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291840" cy="3291840"/>
          </a:xfrm>
          <a:prstGeom prst="ellipse">
            <a:avLst/>
          </a:prstGeom>
          <a:solidFill>
            <a:srgbClr val="1D2A42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WATCHER PRO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Assisted Event Review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Rule Governance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2.2</a:t>
            </a:r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Phase 1 MVP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4297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 cấp 1   ·   User Review cấp 2   ·   Console SOS   ·   Rule Governance có audit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5212080"/>
            <a:ext cx="10607040" cy="0"/>
          </a:xfrm>
          <a:prstGeom prst="line">
            <a:avLst/>
          </a:prstGeom>
          <a:noFill/>
          <a:ln w="12700">
            <a:solidFill>
              <a:srgbClr val="2C3C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5394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120/120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5394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434840" y="5897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+ 4 service mới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92440" y="5394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GR22-001…004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092440" y="5897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enforced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D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demo  ·  11/07/2026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44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Vấn đề &amp; Giải pháp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75488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HIỆN TẠI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Watcher core đã có capture/OCR/rule/email, nhưng THIẾU lớp quản trị Event–Rule–Review: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alert SAI → nhiễu, mất niềm tin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SÓT Incident quan trọng chưa có rule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vận hành phải review THỦ CÔNG quá nhiều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thay đổi KHÔNG có kiểm soát / audit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94960" cy="475488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— PRD 2.2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2240280"/>
            <a:ext cx="457200" cy="457200"/>
          </a:xfrm>
          <a:prstGeom prst="ellipse">
            <a:avLst/>
          </a:prstGeom>
          <a:solidFill>
            <a:srgbClr val="B06E0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2194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 cấp 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254203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Event mới, đánh giá risk, đề xuất action / Draft Rule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3209544"/>
            <a:ext cx="457200" cy="457200"/>
          </a:xfrm>
          <a:prstGeom prst="ellipse">
            <a:avLst/>
          </a:prstGeom>
          <a:solidFill>
            <a:srgbClr val="24466E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78040" y="31638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Review cấp 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78040" y="351129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duyệt Approve / Edit / Reject đề xuất của AI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4178808"/>
            <a:ext cx="457200" cy="457200"/>
          </a:xfrm>
          <a:prstGeom prst="ellipse">
            <a:avLst/>
          </a:prstGeom>
          <a:solidFill>
            <a:srgbClr val="1F8A4C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78040" y="41330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Governance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78040" y="44805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KHÔNG tự Active rule — mọi thay đổi có audit đầy đủ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5148072"/>
            <a:ext cx="457200" cy="457200"/>
          </a:xfrm>
          <a:prstGeom prst="ellipse">
            <a:avLst/>
          </a:prstGeom>
          <a:solidFill>
            <a:srgbClr val="D63031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78040" y="51023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Alert (console)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78040" y="544982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rule khớp → rú âm thanh nền + Acknowledge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44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Luồng xử lý To-Be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0020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kiện (capture + OCR)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46120" y="1965960"/>
            <a:ext cx="137160" cy="0"/>
          </a:xfrm>
          <a:prstGeom prst="line">
            <a:avLst/>
          </a:prstGeom>
          <a:noFill/>
          <a:ln w="19050">
            <a:solidFill>
              <a:srgbClr val="5A647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83280" y="160020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60020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1965960"/>
            <a:ext cx="137160" cy="0"/>
          </a:xfrm>
          <a:prstGeom prst="line">
            <a:avLst/>
          </a:prstGeom>
          <a:noFill/>
          <a:ln w="19050">
            <a:solidFill>
              <a:srgbClr val="5A647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17920" y="160020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60020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SQLite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15400" y="1965960"/>
            <a:ext cx="137160" cy="0"/>
          </a:xfrm>
          <a:prstGeom prst="line">
            <a:avLst/>
          </a:prstGeom>
          <a:noFill/>
          <a:ln w="19050">
            <a:solidFill>
              <a:srgbClr val="5A647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52560" y="160020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160020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· ACTIVE rules_db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7889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DECEC"/>
          </a:solidFill>
          <a:ln w="19050">
            <a:solidFill>
              <a:srgbClr val="D630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889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Khớp INCIDENT Rule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880360" y="3218688"/>
            <a:ext cx="320040" cy="0"/>
          </a:xfrm>
          <a:prstGeom prst="line">
            <a:avLst/>
          </a:prstGeom>
          <a:noFill/>
          <a:ln w="19050">
            <a:solidFill>
              <a:srgbClr val="D6303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200400" y="278892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0" y="2788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SOS Alert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218688"/>
            <a:ext cx="201168" cy="0"/>
          </a:xfrm>
          <a:prstGeom prst="line">
            <a:avLst/>
          </a:prstGeom>
          <a:noFill/>
          <a:ln w="16510">
            <a:solidFill>
              <a:srgbClr val="5A647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510528" y="278892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10528" y="2788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rú + Acknowledge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EAF0F8"/>
          </a:solidFill>
          <a:ln w="19050">
            <a:solidFill>
              <a:srgbClr val="244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977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4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Khớp Normal Rule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880360" y="4407408"/>
            <a:ext cx="320040" cy="0"/>
          </a:xfrm>
          <a:prstGeom prst="line">
            <a:avLst/>
          </a:prstGeom>
          <a:noFill/>
          <a:ln w="19050">
            <a:solidFill>
              <a:srgbClr val="24466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200400" y="397764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00400" y="3977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4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/ Email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4407408"/>
            <a:ext cx="201168" cy="0"/>
          </a:xfrm>
          <a:prstGeom prst="line">
            <a:avLst/>
          </a:prstGeom>
          <a:noFill/>
          <a:ln w="16510">
            <a:solidFill>
              <a:srgbClr val="5A647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510528" y="397764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10528" y="3977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(giữ nguyên flow cũ)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16636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BF1DF"/>
          </a:solidFill>
          <a:ln w="19050">
            <a:solidFill>
              <a:srgbClr val="B06E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1663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0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khớp rule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2880360" y="5596128"/>
            <a:ext cx="320040" cy="0"/>
          </a:xfrm>
          <a:prstGeom prst="line">
            <a:avLst/>
          </a:prstGeom>
          <a:noFill/>
          <a:ln w="19050">
            <a:solidFill>
              <a:srgbClr val="B06E0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200400" y="516636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200400" y="5166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 cấp 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74920" y="5596128"/>
            <a:ext cx="201168" cy="0"/>
          </a:xfrm>
          <a:prstGeom prst="line">
            <a:avLst/>
          </a:prstGeom>
          <a:noFill/>
          <a:ln w="16510">
            <a:solidFill>
              <a:srgbClr val="5A6474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276088" y="516636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276088" y="5166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Rule (AI_SUGGESTED)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150608" y="5596128"/>
            <a:ext cx="201168" cy="0"/>
          </a:xfrm>
          <a:prstGeom prst="line">
            <a:avLst/>
          </a:prstGeom>
          <a:noFill/>
          <a:ln w="16510">
            <a:solidFill>
              <a:srgbClr val="5A6474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351776" y="516636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51776" y="5166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4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Review cấp 2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226296" y="5596128"/>
            <a:ext cx="201168" cy="0"/>
          </a:xfrm>
          <a:prstGeom prst="line">
            <a:avLst/>
          </a:prstGeom>
          <a:noFill/>
          <a:ln w="16510">
            <a:solidFill>
              <a:srgbClr val="5A6474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427464" y="516636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427464" y="5166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✅ / REJECTED ✋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GR22-001: rule do AI đề xuất chỉ ở AI_SUGGESTED (enabled=0) — chỉ người dùng mới được đưa lên ACTIVE.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44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MỚI CHÍNH 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 SOS Alarm — rú kể cả khi UI đóng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297680" cy="47548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chạy trên console?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3794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nền (thread) poll bảng sos_alerts mỗi 3 giây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rule khớp → tạo SOS PENDING → beep ngay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Beep bằng winsound (Windows) / '\a' (khác)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 lại mỗi 300s cho tới khi có người Acknowledge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trong tiến trình server &amp; desktop → không cần mở web UI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ghi lại người + thời điểm (GR22-004)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0" y="1554480"/>
            <a:ext cx="662940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8" name="Image 0" descr="D:/AI/screen-watcher-pro/workshop/110726/evidence/s03_sos_pe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8928" y="1679567"/>
            <a:ext cx="6400800" cy="225528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0" y="4160520"/>
            <a:ext cx="6629400" cy="2286000"/>
          </a:xfrm>
          <a:prstGeom prst="roundRect">
            <a:avLst>
              <a:gd name="adj" fmla="val 2400"/>
            </a:avLst>
          </a:prstGeom>
          <a:solidFill>
            <a:srgbClr val="0E1420"/>
          </a:solidFill>
          <a:ln w="12700">
            <a:solidFill>
              <a:srgbClr val="31405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230368" y="424281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D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 — uvicorn (app/jobs/sos_watcher_job.py)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230368" y="4553712"/>
            <a:ext cx="63550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B9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10:24:58  sos  SOS alert created: Payment declined / fraud (INCIDENT)
</a:t>
            </a:r>
            <a:endParaRPr lang="en-US" sz="9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🚨🚨🚨 [SOS] CRITICAL — Incident rule 'payment_declined_incident'
</a:t>
            </a:r>
            <a:endParaRPr lang="en-US" sz="9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matched event EVT-019f4f34… @ 2026-07-11T10:24:58 🚨🚨🚨
</a:t>
            </a:r>
            <a:endParaRPr lang="en-US" sz="9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FFD7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10:25:00  sos_job  SOS ALARM: severity=CRITICAL
</a:t>
            </a:r>
            <a:endParaRPr lang="en-US" sz="9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7FD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10:25:06  sos  alert acknowledged by admin  →  console DỪNG rú
</a:t>
            </a:r>
            <a:endParaRPr lang="en-US" sz="9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B9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10:25:06  sos  NEW SOS alert created (incident #2) → rú lại ngay
</a:t>
            </a:r>
            <a:endParaRPr lang="en-US" sz="9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FFD7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10:25:07  sos_job  SOS ALARM: severity=CRITICAL</a:t>
            </a:r>
            <a:endParaRPr lang="en-US" sz="9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44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 CẤP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loại &amp; đề xuất → Review Queue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32120" y="1536192"/>
            <a:ext cx="617220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D:/AI/screen-watcher-pro/workshop/110726/evidence/s02_review_que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2178308"/>
            <a:ext cx="5943600" cy="35986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36192"/>
            <a:ext cx="4754880" cy="489204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737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bắt buộc của AI Review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240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2514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nhãn phân loại sự kiện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28986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risk_level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31729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/ CRITICAL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35570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38313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tin cậy 0.0 – 1.0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8680" y="42153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68680" y="44897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thích ngắn gọn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48737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suggested_action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68680" y="51480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/ MONITOR / CREATE_DRAFT_RULE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8680" y="5532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suggested_rule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68680" y="5806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rule đề xuất (nếu cần)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2960" y="5943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toàn: </a:t>
            </a:r>
            <a:pPr indent="0" marL="0">
              <a:buNone/>
            </a:pPr>
            <a:r>
              <a:rPr lang="en-US" sz="115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120s → RETRY_REQUIRED · JSON sai → FAILED · OCR cắt 6000 ký tự, không log nội dung.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44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đề xuất — Con người quyết định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667512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D:/AI/screen-watcher-pro/workshop/110726/evidence/s08_rules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945115"/>
            <a:ext cx="6455664" cy="40650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635508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rules_db: draft do AI (ai_review) → 1 đã APPROVE thành ACTIVE, 1 bị REJECTED (giữ lại + lý do)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06640" y="1536192"/>
            <a:ext cx="425196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07808" y="1682496"/>
            <a:ext cx="936346" cy="292608"/>
          </a:xfrm>
          <a:prstGeom prst="roundRect">
            <a:avLst>
              <a:gd name="adj" fmla="val 50000"/>
            </a:avLst>
          </a:prstGeom>
          <a:solidFill>
            <a:srgbClr val="D63031"/>
          </a:solidFill>
          <a:ln/>
        </p:spPr>
      </p:sp>
      <p:sp>
        <p:nvSpPr>
          <p:cNvPr id="9" name="Text 6"/>
          <p:cNvSpPr/>
          <p:nvPr/>
        </p:nvSpPr>
        <p:spPr>
          <a:xfrm>
            <a:off x="7607808" y="1682496"/>
            <a:ext cx="93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GR22-001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07808" y="20116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KHÔNG được set rule = ACTIVE/enabled → GovernanceError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06640" y="2468880"/>
            <a:ext cx="425196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607808" y="2615184"/>
            <a:ext cx="936346" cy="292608"/>
          </a:xfrm>
          <a:prstGeom prst="roundRect">
            <a:avLst>
              <a:gd name="adj" fmla="val 50000"/>
            </a:avLst>
          </a:prstGeom>
          <a:solidFill>
            <a:srgbClr val="24466E"/>
          </a:solidFill>
          <a:ln/>
        </p:spPr>
      </p:sp>
      <p:sp>
        <p:nvSpPr>
          <p:cNvPr id="13" name="Text 10"/>
          <p:cNvSpPr/>
          <p:nvPr/>
        </p:nvSpPr>
        <p:spPr>
          <a:xfrm>
            <a:off x="7607808" y="2615184"/>
            <a:ext cx="93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GR22-002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607808" y="294436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rule phải do người tạo/approve trước khi phát SOS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406640" y="3401568"/>
            <a:ext cx="425196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607808" y="3547872"/>
            <a:ext cx="936346" cy="292608"/>
          </a:xfrm>
          <a:prstGeom prst="roundRect">
            <a:avLst>
              <a:gd name="adj" fmla="val 50000"/>
            </a:avLst>
          </a:prstGeom>
          <a:solidFill>
            <a:srgbClr val="B06E00"/>
          </a:solidFill>
          <a:ln/>
        </p:spPr>
      </p:sp>
      <p:sp>
        <p:nvSpPr>
          <p:cNvPr id="17" name="Text 14"/>
          <p:cNvSpPr/>
          <p:nvPr/>
        </p:nvSpPr>
        <p:spPr>
          <a:xfrm>
            <a:off x="7607808" y="3547872"/>
            <a:ext cx="93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GR22-003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607808" y="387705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REJECTED được GIỮ lại (soft) kèm reject_reason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406640" y="4334256"/>
            <a:ext cx="425196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607808" y="4480560"/>
            <a:ext cx="936346" cy="292608"/>
          </a:xfrm>
          <a:prstGeom prst="roundRect">
            <a:avLst>
              <a:gd name="adj" fmla="val 50000"/>
            </a:avLst>
          </a:prstGeom>
          <a:solidFill>
            <a:srgbClr val="1F8A4C"/>
          </a:solidFill>
          <a:ln/>
        </p:spPr>
      </p:sp>
      <p:sp>
        <p:nvSpPr>
          <p:cNvPr id="21" name="Text 18"/>
          <p:cNvSpPr/>
          <p:nvPr/>
        </p:nvSpPr>
        <p:spPr>
          <a:xfrm>
            <a:off x="7607808" y="4480560"/>
            <a:ext cx="93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GR22-004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607808" y="480974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acknowledge ghi acknowledged_by + acknowledged_at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406640" y="5321808"/>
            <a:ext cx="4251960" cy="1097280"/>
          </a:xfrm>
          <a:prstGeom prst="roundRect">
            <a:avLst>
              <a:gd name="adj" fmla="val 6667"/>
            </a:avLst>
          </a:prstGeom>
          <a:solidFill>
            <a:srgbClr val="E7F5EC"/>
          </a:solidFill>
          <a:ln w="15240">
            <a:solidFill>
              <a:srgbClr val="1F8A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43800" y="5449824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8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10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9418320" y="546811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44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REVIEW CẤP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→ ACTIVE · Reject (bắt buộc lý do)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66344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1F8A4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8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/api/ai/reviews/{id}/approve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Draft rule chuyển ACTIVE (enabled=1)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Event chuyển CONFIRMED_ISSUE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Audit: review.approve + rule.active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4572000"/>
            <a:ext cx="4892040" cy="1417320"/>
          </a:xfrm>
          <a:prstGeom prst="roundRect">
            <a:avLst>
              <a:gd name="adj" fmla="val 3871"/>
            </a:avLst>
          </a:prstGeom>
          <a:solidFill>
            <a:srgbClr val="0E1420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718304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D7D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kết quả thực tế (evidence)
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FD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"rule_status": "ACTIVE",
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FD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"event_status": "CONFIRMED_ISSUE"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440680" cy="466344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1828800"/>
            <a:ext cx="502920" cy="502920"/>
          </a:xfrm>
          <a:prstGeom prst="ellipse">
            <a:avLst/>
          </a:prstGeom>
          <a:solidFill>
            <a:srgbClr val="D63031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1874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30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37960" y="25146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buộc nhập reject_reason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Thiếu lý do: HTTP 422 (từ chối)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Rule chuyển REJECTED nhưng GIỮ lại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Event chuyển IGNORED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Audit: review.reject + rule.rejected (kèm lý do)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37960" y="4800600"/>
            <a:ext cx="4892040" cy="1188720"/>
          </a:xfrm>
          <a:prstGeom prst="roundRect">
            <a:avLst>
              <a:gd name="adj" fmla="val 4615"/>
            </a:avLst>
          </a:prstGeom>
          <a:solidFill>
            <a:srgbClr val="FDECEC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4937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GR22-003  </a:t>
            </a:r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“Không xoá cứng” — rule bị từ chối vẫn tra cứu được kèm lý do, phục vụ audit.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44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&amp; TRUY VẾT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RBAC theo vai trò + Audit đầy đủ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690372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D:/AI/screen-watcher-pro/workshop/110726/evidence/s09_audit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998471"/>
            <a:ext cx="6684264" cy="39583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63550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/admin/audit — mọi approve/reject/enable/disable/acknowledge đều ghi log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35240" y="1600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4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chứng RBAC (evidence)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2057400"/>
          <a:ext cx="402336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85800"/>
                <a:gridCol w="777240"/>
                <a:gridCol w="594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Hành động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Xem Events / SOS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/ Reject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30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Tạo / sửa 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30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30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Xem Audit 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30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30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Acknowledge SOS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635240" y="5074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ack: </a:t>
            </a:r>
            <a:pPr indent="0" marL="0">
              <a:buNone/>
            </a:pPr>
            <a:r>
              <a:rPr lang="en-US" sz="120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double-ack trả HTTP 400 — không thể ack lặp; ghi acknowledged_by=admin.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44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TIẾP CẬN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Tái sử dụng tối đa — chỉ thêm phần thiếu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66344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TÁI SỬ DỤNG (không đụng)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Repository + UUIDv7, RBAC seed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(PBKDF2) + get_current_user / require_admin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rule_engine — 5 loại rule (contains/regex/keywords…)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chat_server + /api/watcher + /api/chat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/ email service, issue vectorstore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tool-calling (mở rộng thêm 6 tool)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pipeline (bridge sang event flow)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440680" cy="466344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4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BỔ SUNG (Phase 1 MVP)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228600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002_prd22.sql — 6 bảng (idempotent + backup)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repository + 4 service (event/rule/ai_review/sos)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GovernanceError — chốt chặn GR22-001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SOS watcher job (poll + beep + ack)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prd22_routes — events/rules/review/sos/audit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Admin UI /admin (Jinja2 + HTMX, poll 2s)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chatbot tool mới (SOS/queue/approve/test/list)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44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CHẤT LƯỢNG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thử &amp; Bàn giao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9164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F8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51960" y="160020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51960" y="169164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44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251960" y="2606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PRD 2.2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5280" y="160020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0" y="169164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06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7955280" y="2606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tests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10996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4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test (tests/) + Bàn giao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06908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test_migration_prd22 — idempotent + backup + indexes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test_sos_watcher_job — beep, cooldown, graceful stop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test_event_service — SOS / email / AI review routing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test_ai_review_governance — GR22-001…004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test_prd22_routes — RBAC + happy path (API)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406908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002_prd22.sql + database.apply_migrations()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app/services/*_service.py + prd22_bootstrap.py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app/jobs/sos_watcher_job.py + FastAPI lifespan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app/ai/prd22_routes.py + admin_ui/ (Jinja2/HTMX)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§9 (Mermaid) + RUNBOOK-PRD22.md (demo 5 bước)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0304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5 bước — RUNBOOK-PRD22.md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566928" cy="566928"/>
          </a:xfrm>
          <a:prstGeom prst="ellipse">
            <a:avLst/>
          </a:prstGeom>
          <a:solidFill>
            <a:srgbClr val="D6303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856232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trang “Payment declined” → Incident rule khớp → console TỰ RÚ 🚨 ngay (chưa cần UI)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715768"/>
            <a:ext cx="566928" cy="566928"/>
          </a:xfrm>
          <a:prstGeom prst="ellipse">
            <a:avLst/>
          </a:prstGeom>
          <a:solidFill>
            <a:srgbClr val="1F8A4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15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697480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tại /admin/sos → console DỪNG rú, ghi người + thời điểm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3557016"/>
            <a:ext cx="566928" cy="566928"/>
          </a:xfrm>
          <a:prstGeom prst="ellipse">
            <a:avLst/>
          </a:prstGeom>
          <a:solidFill>
            <a:srgbClr val="B06E0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57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3538728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text lạ chưa có rule → AI Review tạo Draft Rule → hiện ở /admin/review-queue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4398264"/>
            <a:ext cx="566928" cy="566928"/>
          </a:xfrm>
          <a:prstGeom prst="ellipse">
            <a:avLst/>
          </a:prstGeom>
          <a:solidFill>
            <a:srgbClr val="24466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3982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37997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 → Rule ACTIVE → lần capture sau khớp rule mới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5239512"/>
            <a:ext cx="566928" cy="566928"/>
          </a:xfrm>
          <a:prstGeom prst="ellipse">
            <a:avLst/>
          </a:prstGeom>
          <a:solidFill>
            <a:srgbClr val="8A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239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54480" y="522122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Reject kèm lý do → Rule REJECTED (giữ lại) → audit_logs ghi đầy đủ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77240" y="6172200"/>
            <a:ext cx="10607040" cy="0"/>
          </a:xfrm>
          <a:prstGeom prst="line">
            <a:avLst/>
          </a:prstGeom>
          <a:noFill/>
          <a:ln w="12700">
            <a:solidFill>
              <a:srgbClr val="2C3C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Chạy: uvicorn app.ai.chat_server:app --port 8000   ·   Admin: http://127.0.0.1:8000/admin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PRD 2.2 — AI Assisted Event Review &amp; Rule Governance</dc:title>
  <dc:subject>PptxGenJS Presentation</dc:subject>
  <dc:creator>Screen Watcher Pro</dc:creator>
  <cp:lastModifiedBy>Screen Watcher Pro</cp:lastModifiedBy>
  <cp:revision>1</cp:revision>
  <dcterms:created xsi:type="dcterms:W3CDTF">2026-07-11T03:28:01Z</dcterms:created>
  <dcterms:modified xsi:type="dcterms:W3CDTF">2026-07-11T03:28:01Z</dcterms:modified>
</cp:coreProperties>
</file>