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937760" cy="4937760"/>
          </a:xfrm>
          <a:prstGeom prst="ellipse">
            <a:avLst/>
          </a:prstGeom>
          <a:solidFill>
            <a:srgbClr val="20304C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3931920"/>
            <a:ext cx="3474720" cy="3474720"/>
          </a:xfrm>
          <a:prstGeom prst="ellipse">
            <a:avLst/>
          </a:prstGeom>
          <a:solidFill>
            <a:srgbClr val="1D2A4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DỄ HIỂU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ChromaDB &amp; HuggingFace TTS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hoạt động thế nào?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"trợ lý" mới của Screen Watcher — kể cả không rành kỹ thuật vẫn hiểu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5029200"/>
            <a:ext cx="10607040" cy="0"/>
          </a:xfrm>
          <a:prstGeom prst="line">
            <a:avLst/>
          </a:prstGeom>
          <a:noFill/>
          <a:ln w="12700">
            <a:solidFill>
              <a:srgbClr val="2C3C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52578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7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🧠 ChromaDB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5760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 nhớ nhận ra sự cố lặp lại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63640" y="52578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7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🔊 HF TTS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263640" y="5760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cảnh báo thành giọng nói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44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QUAN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trợ lý mới — mỗi cái giải quyết một nỗi đau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914400" cy="914400"/>
          </a:xfrm>
          <a:prstGeom prst="ellipse">
            <a:avLst/>
          </a:prstGeom>
          <a:solidFill>
            <a:srgbClr val="F0F7F8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920240" y="20116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ChromaDB — Trí nhớ thông minh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nhớ các sự cố đã gặp. Khi có cảnh báo mới, nó tự hỏi: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749040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0F7F8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7490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"Cái này MỚI, hay mình ĐÃ TỪNG gặp rồi?"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709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Gom các cảnh báo trùng lặp, đỡ làm phiền người trực.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394960" cy="4709160"/>
          </a:xfrm>
          <a:prstGeom prst="roundRect">
            <a:avLst>
              <a:gd name="adj" fmla="val 1748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914400" cy="914400"/>
          </a:xfrm>
          <a:prstGeom prst="ellipse">
            <a:avLst/>
          </a:prstGeom>
          <a:solidFill>
            <a:srgbClr val="F5F1FA"/>
          </a:solidFill>
          <a:ln w="19050">
            <a:solidFill>
              <a:srgbClr val="6D4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🔊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543800" y="20116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4A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HuggingFace TTS — Giọng nói cảnh báo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3063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Biến dòng chữ cảnh báo thành TIẾNG NÓI tiếng Việt phát ra loa.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37960" y="3749040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5F1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37490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"Cảnh báo nghiêm trọng. Hệ thống phát hiện gian lận…"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37960" y="470916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Nghe được ngay cả khi không nhìn màn hình.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· VẤN ĐỀ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cần "trí nhớ"?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30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Khi KHÔNG có trí nhớ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cảnh báo bị coi là một sự cố MỚI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1 lỗi lặp lại 10 lần → 10 lần làm phiền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trực bị "ngập" thông báo, dễ bỏ sót cái quan trọng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9496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Khi CÓ ChromaDB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2402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ra "cái này giống lần trước" → gộp lại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báo 1 lần + đếm số lần tái diễn</a:t>
            </a:r>
            <a:endParaRPr lang="en-US" sz="1400" dirty="0"/>
          </a:p>
          <a:p>
            <a:pPr marL="342900" indent="-342900">
              <a:buSzPct val="100000"/>
              <a:buChar char="✓"/>
            </a:pPr>
            <a:r>
              <a:rPr lang="en-US" sz="140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trực thấy đúng số sự cố THẬT SỰ khác nhau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502920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F0F7F8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029200"/>
            <a:ext cx="10744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Ví von:  </a:t>
            </a:r>
            <a:pPr indent="0" marL="0"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Giống như một thủ thư giỏi — bạn đưa một tờ báo cáo, họ lập tức nhớ ra "à, vụ này tháng trước gặp rồi", thay vì lưu thành hồ sơ mới toanh mỗi lần.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· CÁCH HOẠT ĐỘNG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bước — so khớp theo Ý NGHĨA, không theo câu chữ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2004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Câu cảnh báo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dụ: "Payment declined - fraud on card..."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794760" y="2903220"/>
            <a:ext cx="4114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51960" y="1828800"/>
            <a:ext cx="32004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4340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Dấu vân tay số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89120" y="2926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đổi câu chữ thành một dãy số đại diện cho Ý NGHĨA (embedding)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498080" y="2903220"/>
            <a:ext cx="4114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955280" y="1828800"/>
            <a:ext cx="32004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5528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046720" y="2560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So với kho ký ức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92440" y="2926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dấu vân tay mới với các sự cố đã lưu trong ChromaDB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E7F5EC"/>
          </a:solidFill>
          <a:ln w="16510">
            <a:solidFill>
              <a:srgbClr val="1F8A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3434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Giống ≥ 78%  →  </a:t>
            </a:r>
            <a:pPr indent="0" marL="0"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"ĐÃ TỪNG GẶP" (đếm thêm 1 lần, không báo lại)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17920" y="4343400"/>
            <a:ext cx="5440680" cy="868680"/>
          </a:xfrm>
          <a:prstGeom prst="roundRect">
            <a:avLst>
              <a:gd name="adj" fmla="val 8421"/>
            </a:avLst>
          </a:prstGeom>
          <a:solidFill>
            <a:srgbClr val="FFF3D6"/>
          </a:solidFill>
          <a:ln w="16510">
            <a:solidFill>
              <a:srgbClr val="B06E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3434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 nhiều  →  </a:t>
            </a:r>
            <a:pPr indent="0" marL="0"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"SỰ CỐ MỚI" (lưu vào kho để lần sau nhận ra)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44068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F0F7F8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440680"/>
            <a:ext cx="10744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Ví von:  </a:t>
            </a:r>
            <a:pPr indent="0" marL="0"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"Dấu vân tay số" giúp máy hiểu 2 câu KHÁC CHỮ nhưng CÙNG NGHĨA vẫn là một vấn đề — chạy hoàn toàn trên máy, không cần internet.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· BẰNG CHỨNG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thật: 5 cảnh báo vào → 3 sự cố duy nhất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Cảnh báo đưa vào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675120" y="16916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kết luận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943600" cy="57607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011680"/>
            <a:ext cx="5669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 declined #10293 — fraud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75120" y="2011680"/>
            <a:ext cx="4983480" cy="576072"/>
          </a:xfrm>
          <a:prstGeom prst="roundRect">
            <a:avLst>
              <a:gd name="adj" fmla="val 12698"/>
            </a:avLst>
          </a:prstGeom>
          <a:solidFill>
            <a:srgbClr val="FFF3D6"/>
          </a:solidFill>
          <a:ln w="15240">
            <a:solidFill>
              <a:srgbClr val="B06E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2011680"/>
            <a:ext cx="4663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SỰ CỐ MỚI   </a:t>
            </a:r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xuất hiện lần 1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5943600" cy="57607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697480"/>
            <a:ext cx="5669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 declined #55019 — fraud suspected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675120" y="2697480"/>
            <a:ext cx="4983480" cy="576072"/>
          </a:xfrm>
          <a:prstGeom prst="roundRect">
            <a:avLst>
              <a:gd name="adj" fmla="val 12698"/>
            </a:avLst>
          </a:prstGeom>
          <a:solidFill>
            <a:srgbClr val="E7F5EC"/>
          </a:solidFill>
          <a:ln w="15240">
            <a:solidFill>
              <a:srgbClr val="1F8A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2697480"/>
            <a:ext cx="4663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ĐÃ GẶP (giống 94%)   </a:t>
            </a:r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xuất hiện lần 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5943600" cy="57607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383280"/>
            <a:ext cx="5669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ERROR: disk full 98% trên db-02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75120" y="3383280"/>
            <a:ext cx="4983480" cy="576072"/>
          </a:xfrm>
          <a:prstGeom prst="roundRect">
            <a:avLst>
              <a:gd name="adj" fmla="val 12698"/>
            </a:avLst>
          </a:prstGeom>
          <a:solidFill>
            <a:srgbClr val="FFF3D6"/>
          </a:solidFill>
          <a:ln w="15240">
            <a:solidFill>
              <a:srgbClr val="B06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3383280"/>
            <a:ext cx="4663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SỰ CỐ MỚI   </a:t>
            </a:r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xuất hiện lần 1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5943600" cy="57607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4069080"/>
            <a:ext cx="5669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 declined #77123 — chargeback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75120" y="4069080"/>
            <a:ext cx="4983480" cy="576072"/>
          </a:xfrm>
          <a:prstGeom prst="roundRect">
            <a:avLst>
              <a:gd name="adj" fmla="val 12698"/>
            </a:avLst>
          </a:prstGeom>
          <a:solidFill>
            <a:srgbClr val="E7F5EC"/>
          </a:solidFill>
          <a:ln w="15240">
            <a:solidFill>
              <a:srgbClr val="1F8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4069080"/>
            <a:ext cx="4663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ĐÃ GẶP (giống 96%)   </a:t>
            </a:r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xuất hiện lần 3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754880"/>
            <a:ext cx="5943600" cy="57607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754880"/>
            <a:ext cx="5669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Kafka broker CRITICAL unavailable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75120" y="4754880"/>
            <a:ext cx="4983480" cy="576072"/>
          </a:xfrm>
          <a:prstGeom prst="roundRect">
            <a:avLst>
              <a:gd name="adj" fmla="val 12698"/>
            </a:avLst>
          </a:prstGeom>
          <a:solidFill>
            <a:srgbClr val="FFF3D6"/>
          </a:solidFill>
          <a:ln w="15240">
            <a:solidFill>
              <a:srgbClr val="B06E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4754880"/>
            <a:ext cx="4663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SỰ CỐ MỚI   </a:t>
            </a:r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xuất hiện lần 1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62356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623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quả: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cảnh báo → chỉ 3 sự cố thật sự khác nhau. Người trực không bị spam nhiều lần cho cùng 1 vấn đề.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(7/7 test tự động PASS)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TTS · CÁCH HOẠT ĐỘNG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Biến chữ cảnh báo thành giọng nói tiếng Việt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cảnh báo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"Cảnh báo nghiêm trọng. Hệ thống phát hiện gian lận…"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90672" y="2880360"/>
            <a:ext cx="237744" cy="0"/>
          </a:xfrm>
          <a:prstGeom prst="line">
            <a:avLst/>
          </a:prstGeom>
          <a:noFill/>
          <a:ln w="25400">
            <a:solidFill>
              <a:srgbClr val="6D4AA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55848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55848" y="19659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47288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giọng nói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93008" y="2926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facebook/mms-tts-vie tải 1 lần, chạy trên máy (CPU)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97880" y="2880360"/>
            <a:ext cx="237744" cy="0"/>
          </a:xfrm>
          <a:prstGeom prst="line">
            <a:avLst/>
          </a:prstGeom>
          <a:noFill/>
          <a:ln w="25400">
            <a:solidFill>
              <a:srgbClr val="6D4A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63056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63056" y="19659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〰️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254496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Sóng âm thanh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0216" y="2926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tạo ra file âm thanh (WAV) đọc đúng câu tiếng Việt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05088" y="2880360"/>
            <a:ext cx="237744" cy="0"/>
          </a:xfrm>
          <a:prstGeom prst="line">
            <a:avLst/>
          </a:prstGeom>
          <a:noFill/>
          <a:ln w="25400">
            <a:solidFill>
              <a:srgbClr val="6D4A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970264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70264" y="19659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061704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 đọc to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07424" y="2926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ra loa — nghe được ngay cả khi không nhìn màn hình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3434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F5F1FA"/>
          </a:solidFill>
          <a:ln w="15240">
            <a:solidFill>
              <a:srgbClr val="6D4A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343400"/>
            <a:ext cx="10744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Ví von:  </a:t>
            </a:r>
            <a:pPr indent="0" marL="0">
              <a:buNone/>
            </a:pPr>
            <a:r>
              <a:rPr lang="en-US" sz="13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Giống một chiếc loa phát thanh tự động đọc thông báo — nhưng đây là AI đọc, phát âm tiếng Việt tự nhiên, và không cần internet sau khi cài.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44068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4864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D4A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48640" y="5943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lần tải đầu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37560" y="544068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3756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D4A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3337560" y="5943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GPU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26480" y="544068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12648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D4A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Tiếng Việt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126480" y="5943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âm tự nhiên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915400" y="5440680"/>
            <a:ext cx="26517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91540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D4A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Tự fallback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8915400" y="5943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→ chuyển beep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TTS · BẰNG CHỨNG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tạo ra giọng nói tiếng Việt thật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109960" cy="2286000"/>
          </a:xfrm>
          <a:prstGeom prst="roundRect">
            <a:avLst>
              <a:gd name="adj" fmla="val 3600"/>
            </a:avLst>
          </a:prstGeom>
          <a:solidFill>
            <a:srgbClr val="0E1420"/>
          </a:solidFill>
          <a:ln w="12700">
            <a:solidFill>
              <a:srgbClr val="D9DFE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Sóng âm của câu cảnh báo do AI đọc (file WAV thật)</a:t>
            </a:r>
            <a:endParaRPr lang="en-US" sz="1200" dirty="0"/>
          </a:p>
        </p:txBody>
      </p:sp>
      <p:pic>
        <p:nvPicPr>
          <p:cNvPr id="6" name="Image 0" descr="D:/AI/screen-watcher-pro/workshop/110726/evidence/tts_wave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6945" y="2148840"/>
            <a:ext cx="7753350" cy="1691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41148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đọc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514600" y="411480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"Cảnh báo. Sự cố nghiêm trọng vừa được xác nhận. Vui lòng kiểm tra hệ thống ngay lập tức."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" y="468172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514600" y="4681728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facebook/mms-tts-vie  (Hugging Face, VITS/MMS-TTS)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52486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số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14600" y="5248656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5.95 giây · 16.000 Hz · mono · dựng trên CPU (không GPU)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5800" y="5815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toàn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14600" y="581558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sau lần tải đầu · thiếu thư viện/lỗi → tự động beep, không chặn cảnh báo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8580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File: workshop/110726/evidence/tts_alert_vi.wav  ·  8/8 test tự động PASS (bao gồm cả synth thật)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20304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85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TÓM LẠI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trợ lý — mạnh nhưng an toàn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rgbClr val="20304C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8562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 </a:t>
            </a:r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ra sự cố lặp lại → bớt spam, người trực thấy đúng số vấn đề thật.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770632"/>
            <a:ext cx="566928" cy="566928"/>
          </a:xfrm>
          <a:prstGeom prst="ellipse">
            <a:avLst/>
          </a:prstGeom>
          <a:solidFill>
            <a:srgbClr val="20304C"/>
          </a:solidFill>
          <a:ln w="16510">
            <a:solidFill>
              <a:srgbClr val="6D4A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70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🔊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5234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4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TTS:  </a:t>
            </a:r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cảnh báo thành giọng nói tiếng Việt → nghe được, khó bỏ lỡ.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666744"/>
            <a:ext cx="566928" cy="566928"/>
          </a:xfrm>
          <a:prstGeom prst="ellipse">
            <a:avLst/>
          </a:prstGeom>
          <a:solidFill>
            <a:srgbClr val="20304C"/>
          </a:solidFill>
          <a:ln w="16510">
            <a:solidFill>
              <a:srgbClr val="B06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666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🔌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364845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Tùy chọn:  </a:t>
            </a:r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là "lắp thêm" (requirements-ml.txt). Không cài vẫn chạy: tự dùng bộ nhớ SQLite / beep.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4562856"/>
            <a:ext cx="566928" cy="566928"/>
          </a:xfrm>
          <a:prstGeom prst="ellipse">
            <a:avLst/>
          </a:prstGeom>
          <a:solidFill>
            <a:srgbClr val="20304C"/>
          </a:solidFill>
          <a:ln w="16510">
            <a:solidFill>
              <a:srgbClr val="1F8A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562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54480" y="4544568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&amp; không GPU:  </a:t>
            </a:r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ngay trên máy, không gửi dữ liệu ra ngoài, không cần card đồ họa.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5458968"/>
            <a:ext cx="566928" cy="566928"/>
          </a:xfrm>
          <a:prstGeom prst="ellipse">
            <a:avLst/>
          </a:prstGeom>
          <a:solidFill>
            <a:srgbClr val="20304C"/>
          </a:solidFill>
          <a:ln w="1651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4589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0" y="5440680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kiểm thử:  </a:t>
            </a:r>
            <a:pPr indent="0" marL="0">
              <a:buNone/>
            </a:pPr>
            <a:r>
              <a:rPr lang="en-US" sz="15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test tự động cho 2 tính năng · toàn dự án 119 test PASS.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Giải thích: ChromaDB &amp; HuggingFace TTS</dc:title>
  <dc:subject>PptxGenJS Presentation</dc:subject>
  <dc:creator>PptxGenJS</dc:creator>
  <cp:lastModifiedBy>PptxGenJS</cp:lastModifiedBy>
  <cp:revision>1</cp:revision>
  <dcterms:created xsi:type="dcterms:W3CDTF">2026-07-11T03:28:01Z</dcterms:created>
  <dcterms:modified xsi:type="dcterms:W3CDTF">2026-07-11T03:28:01Z</dcterms:modified>
</cp:coreProperties>
</file>