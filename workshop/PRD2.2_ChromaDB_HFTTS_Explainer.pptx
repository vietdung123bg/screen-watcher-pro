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2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463040"/>
            <a:ext cx="4937760" cy="4937760"/>
          </a:xfrm>
          <a:prstGeom prst="ellipse">
            <a:avLst/>
          </a:prstGeom>
          <a:solidFill>
            <a:srgbClr val="20304C"/>
          </a:solidFill>
          <a:ln/>
        </p:spPr>
      </p:sp>
      <p:sp>
        <p:nvSpPr>
          <p:cNvPr id="3" name="Shape 1"/>
          <p:cNvSpPr/>
          <p:nvPr/>
        </p:nvSpPr>
        <p:spPr>
          <a:xfrm>
            <a:off x="10515600" y="3931920"/>
            <a:ext cx="3474720" cy="3474720"/>
          </a:xfrm>
          <a:prstGeom prst="ellipse">
            <a:avLst/>
          </a:prstGeom>
          <a:solidFill>
            <a:srgbClr val="1D2A42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0972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GIẢI THÍCH DỄ HIỂU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600200"/>
            <a:ext cx="10424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ChromaDB &amp; HuggingFace TTS</a:t>
            </a:r>
            <a:endParaRPr lang="en-US" sz="4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hoạt động thế nào?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77240" y="37033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 "trợ lý" mới của Screen Watcher — kể cả không rành kỹ thuật vẫn hiểu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77240" y="5029200"/>
            <a:ext cx="10607040" cy="0"/>
          </a:xfrm>
          <a:prstGeom prst="line">
            <a:avLst/>
          </a:prstGeom>
          <a:noFill/>
          <a:ln w="12700">
            <a:solidFill>
              <a:srgbClr val="2C3C5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525780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D7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🧠 ChromaDB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77240" y="576072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trí nhớ nhận ra sự cố lặp lại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263640" y="525780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D7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🔊 HF TTS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263640" y="576072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đọc cảnh báo thành giọng nói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1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44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QUAN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Hai trợ lý mới — mỗi cái giải quyết một nỗi đau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4709160"/>
          </a:xfrm>
          <a:prstGeom prst="roundRect">
            <a:avLst>
              <a:gd name="adj" fmla="val 1748"/>
            </a:avLst>
          </a:prstGeom>
          <a:solidFill>
            <a:srgbClr val="FFFFFF"/>
          </a:solidFill>
          <a:ln w="12700">
            <a:solidFill>
              <a:srgbClr val="D9DFE7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874520"/>
            <a:ext cx="914400" cy="914400"/>
          </a:xfrm>
          <a:prstGeom prst="ellipse">
            <a:avLst/>
          </a:prstGeom>
          <a:solidFill>
            <a:srgbClr val="F0F7F8"/>
          </a:solidFill>
          <a:ln w="19050">
            <a:solidFill>
              <a:srgbClr val="0E7C8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8745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🧠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920240" y="201168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ChromaDB — Trí nhớ thông minh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306324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Ghi nhớ các sự cố đã gặp. Khi có cảnh báo mới, nó tự hỏi: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14400" y="3749040"/>
            <a:ext cx="4663440" cy="777240"/>
          </a:xfrm>
          <a:prstGeom prst="roundRect">
            <a:avLst>
              <a:gd name="adj" fmla="val 7059"/>
            </a:avLst>
          </a:prstGeom>
          <a:solidFill>
            <a:srgbClr val="F0F7F8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3749040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"Cái này MỚI, hay mình ĐÃ TỪNG gặp rồi?"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4709160"/>
            <a:ext cx="4663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Gom các cảnh báo trùng lặp, đỡ làm phiền người trực.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172200" y="1600200"/>
            <a:ext cx="5394960" cy="4709160"/>
          </a:xfrm>
          <a:prstGeom prst="roundRect">
            <a:avLst>
              <a:gd name="adj" fmla="val 1748"/>
            </a:avLst>
          </a:prstGeom>
          <a:solidFill>
            <a:srgbClr val="FFFFFF"/>
          </a:solidFill>
          <a:ln w="12700">
            <a:solidFill>
              <a:srgbClr val="D9DFE7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92240" y="1874520"/>
            <a:ext cx="914400" cy="914400"/>
          </a:xfrm>
          <a:prstGeom prst="ellipse">
            <a:avLst/>
          </a:prstGeom>
          <a:solidFill>
            <a:srgbClr val="F5F1FA"/>
          </a:solidFill>
          <a:ln w="19050">
            <a:solidFill>
              <a:srgbClr val="6D4A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18745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🔊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7543800" y="201168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D4A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HuggingFace TTS — Giọng nói cảnh báo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537960" y="306324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Biến dòng chữ cảnh báo thành TIẾNG NÓI tiếng Việt phát ra loa.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537960" y="3749040"/>
            <a:ext cx="4663440" cy="777240"/>
          </a:xfrm>
          <a:prstGeom prst="roundRect">
            <a:avLst>
              <a:gd name="adj" fmla="val 7059"/>
            </a:avLst>
          </a:prstGeom>
          <a:solidFill>
            <a:srgbClr val="F5F1FA"/>
          </a:solidFill>
          <a:ln/>
        </p:spPr>
      </p:sp>
      <p:sp>
        <p:nvSpPr>
          <p:cNvPr id="18" name="Text 16"/>
          <p:cNvSpPr/>
          <p:nvPr/>
        </p:nvSpPr>
        <p:spPr>
          <a:xfrm>
            <a:off x="6675120" y="3749040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D4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"Cảnh báo nghiêm trọng. Hệ thống phát hiện gian lận…"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537960" y="4709160"/>
            <a:ext cx="4663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Nghe được ngay cả khi không nhìn màn hình.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1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· VẤN ĐỀ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Vì sao cần "trí nhớ"?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3108960"/>
          </a:xfrm>
          <a:prstGeom prst="roundRect">
            <a:avLst>
              <a:gd name="adj" fmla="val 2647"/>
            </a:avLst>
          </a:prstGeom>
          <a:solidFill>
            <a:srgbClr val="FFFFFF"/>
          </a:solidFill>
          <a:ln w="12700">
            <a:solidFill>
              <a:srgbClr val="D9DFE7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7830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630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Khi KHÔNG có trí nhớ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2240280"/>
            <a:ext cx="4754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cảnh báo bị coi là một sự cố MỚI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Cùng 1 lỗi lặp lại 10 lần → 10 lần làm phiền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Người trực bị "ngập" thông báo, dễ bỏ sót cái quan trọng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63640" y="1600200"/>
            <a:ext cx="5394960" cy="3108960"/>
          </a:xfrm>
          <a:prstGeom prst="roundRect">
            <a:avLst>
              <a:gd name="adj" fmla="val 2647"/>
            </a:avLst>
          </a:prstGeom>
          <a:solidFill>
            <a:srgbClr val="FFFFFF"/>
          </a:solidFill>
          <a:ln w="12700">
            <a:solidFill>
              <a:srgbClr val="D9DFE7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37960" y="17830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8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Khi CÓ ChromaDB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583680" y="2240280"/>
            <a:ext cx="4754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4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Nhận ra "cái này giống lần trước" → gộp lại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4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Chỉ báo 1 lần + đếm số lần tái diễn</a:t>
            </a:r>
            <a:endParaRPr lang="en-US" sz="1400" dirty="0"/>
          </a:p>
          <a:p>
            <a:pPr marL="342900" indent="-342900">
              <a:buSzPct val="100000"/>
              <a:buChar char="✓"/>
            </a:pPr>
            <a:r>
              <a:rPr lang="en-US" sz="14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Người trực thấy đúng số sự cố THẬT SỰ khác nhau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5029200"/>
            <a:ext cx="11109960" cy="1051560"/>
          </a:xfrm>
          <a:prstGeom prst="roundRect">
            <a:avLst>
              <a:gd name="adj" fmla="val 6957"/>
            </a:avLst>
          </a:prstGeom>
          <a:solidFill>
            <a:srgbClr val="F0F7F8"/>
          </a:solidFill>
          <a:ln w="15240">
            <a:solidFill>
              <a:srgbClr val="0E7C8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5029200"/>
            <a:ext cx="10744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Ví von:  </a:t>
            </a:r>
            <a:pPr indent="0" marL="0">
              <a:buNone/>
            </a:pPr>
            <a:r>
              <a:rPr lang="en-US" sz="13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Giống như một thủ thư giỏi — bạn đưa một tờ báo cáo, họ lập tức nhớ ra "à, vụ này tháng trước gặp rồi", thay vì lưu thành hồ sơ mới toanh mỗi lần.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1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· CÁCH HOẠT ĐỘNG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bước — so khớp theo Ý NGHĨA, không theo câu chữ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20040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D9DFE7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9659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25603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Câu cảnh báo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2926080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 dụ: "Payment declined - fraud on card..."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794760" y="2903220"/>
            <a:ext cx="411480" cy="0"/>
          </a:xfrm>
          <a:prstGeom prst="line">
            <a:avLst/>
          </a:prstGeom>
          <a:noFill/>
          <a:ln w="25400">
            <a:solidFill>
              <a:srgbClr val="0E7C86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251960" y="1828800"/>
            <a:ext cx="320040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D9DFE7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251960" y="19659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🔢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343400" y="25603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Dấu vân tay số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389120" y="2926080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đổi câu chữ thành một dãy số đại diện cho Ý NGHĨA (embedding)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498080" y="2903220"/>
            <a:ext cx="411480" cy="0"/>
          </a:xfrm>
          <a:prstGeom prst="line">
            <a:avLst/>
          </a:prstGeom>
          <a:noFill/>
          <a:ln w="25400">
            <a:solidFill>
              <a:srgbClr val="0E7C86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955280" y="1828800"/>
            <a:ext cx="320040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D9DFE7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955280" y="19659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🗂️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8046720" y="25603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So với kho ký ức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092440" y="2926080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dấu vân tay mới với các sự cố đã lưu trong ChromaDB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4343400"/>
            <a:ext cx="5440680" cy="868680"/>
          </a:xfrm>
          <a:prstGeom prst="roundRect">
            <a:avLst>
              <a:gd name="adj" fmla="val 8421"/>
            </a:avLst>
          </a:prstGeom>
          <a:solidFill>
            <a:srgbClr val="E7F5EC"/>
          </a:solidFill>
          <a:ln w="16510">
            <a:solidFill>
              <a:srgbClr val="1F8A4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434340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8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Giống ≥ 78%  →  </a:t>
            </a:r>
            <a:pPr indent="0" marL="0">
              <a:buNone/>
            </a:pPr>
            <a:r>
              <a:rPr lang="en-US" sz="13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"ĐÃ TỪNG GẶP" (đếm thêm 1 lần, không báo lại)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217920" y="4343400"/>
            <a:ext cx="5440680" cy="868680"/>
          </a:xfrm>
          <a:prstGeom prst="roundRect">
            <a:avLst>
              <a:gd name="adj" fmla="val 8421"/>
            </a:avLst>
          </a:prstGeom>
          <a:solidFill>
            <a:srgbClr val="FFF3D6"/>
          </a:solidFill>
          <a:ln w="16510">
            <a:solidFill>
              <a:srgbClr val="B06E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0" y="434340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06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Khác nhiều  →  </a:t>
            </a:r>
            <a:pPr indent="0" marL="0">
              <a:buNone/>
            </a:pPr>
            <a:r>
              <a:rPr lang="en-US" sz="13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"SỰ CỐ MỚI" (lưu vào kho để lần sau nhận ra)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548640" y="5440680"/>
            <a:ext cx="11109960" cy="868680"/>
          </a:xfrm>
          <a:prstGeom prst="roundRect">
            <a:avLst>
              <a:gd name="adj" fmla="val 8421"/>
            </a:avLst>
          </a:prstGeom>
          <a:solidFill>
            <a:srgbClr val="F0F7F8"/>
          </a:solidFill>
          <a:ln w="15240">
            <a:solidFill>
              <a:srgbClr val="0E7C8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5440680"/>
            <a:ext cx="10744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Ví von:  </a:t>
            </a:r>
            <a:pPr indent="0" marL="0">
              <a:buNone/>
            </a:pPr>
            <a:r>
              <a:rPr lang="en-US" sz="13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"Dấu vân tay số" giúp máy hiểu 2 câu KHÁC CHỮ nhưng CÙNG NGHĨA vẫn là một vấn đề — chạy hoàn toàn trên máy, không cần internet.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1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· BẰNG CHỨNG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 thật: 4 cảnh báo vào → 2 sự cố duy nhất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178308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Cảnh báo đưa vào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675120" y="17830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kết luận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5943600" cy="71323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9DFE7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2148840"/>
            <a:ext cx="5669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20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Payment declined #10293 — fraud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675120" y="2148840"/>
            <a:ext cx="4983480" cy="713232"/>
          </a:xfrm>
          <a:prstGeom prst="roundRect">
            <a:avLst>
              <a:gd name="adj" fmla="val 10256"/>
            </a:avLst>
          </a:prstGeom>
          <a:solidFill>
            <a:srgbClr val="FFF3D6"/>
          </a:solidFill>
          <a:ln w="15240">
            <a:solidFill>
              <a:srgbClr val="B06E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0" y="2148840"/>
            <a:ext cx="4663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06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🆕 SỰ CỐ MỚI   </a:t>
            </a:r>
            <a:pPr indent="0" marL="0">
              <a:buNone/>
            </a:pPr>
            <a:r>
              <a:rPr lang="en-US" sz="130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xuất hiện lần 1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990088"/>
            <a:ext cx="5943600" cy="71323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9DFE7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31520" y="2990088"/>
            <a:ext cx="5669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20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Payment declined #55019 — fraud suspected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675120" y="2990088"/>
            <a:ext cx="4983480" cy="713232"/>
          </a:xfrm>
          <a:prstGeom prst="roundRect">
            <a:avLst>
              <a:gd name="adj" fmla="val 10256"/>
            </a:avLst>
          </a:prstGeom>
          <a:solidFill>
            <a:srgbClr val="E7F5EC"/>
          </a:solidFill>
          <a:ln w="15240">
            <a:solidFill>
              <a:srgbClr val="1F8A4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0" y="2990088"/>
            <a:ext cx="4663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8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♻️ ĐÃ GẶP (giống 94%)   </a:t>
            </a:r>
            <a:pPr indent="0" marL="0">
              <a:buNone/>
            </a:pPr>
            <a:r>
              <a:rPr lang="en-US" sz="130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xuất hiện lần 2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831336"/>
            <a:ext cx="5943600" cy="71323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9DFE7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31520" y="3831336"/>
            <a:ext cx="5669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20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ERROR: disk full 98% on db-02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675120" y="3831336"/>
            <a:ext cx="4983480" cy="713232"/>
          </a:xfrm>
          <a:prstGeom prst="roundRect">
            <a:avLst>
              <a:gd name="adj" fmla="val 10256"/>
            </a:avLst>
          </a:prstGeom>
          <a:solidFill>
            <a:srgbClr val="FFF3D6"/>
          </a:solidFill>
          <a:ln w="15240">
            <a:solidFill>
              <a:srgbClr val="B06E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0" y="3831336"/>
            <a:ext cx="4663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06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🆕 SỰ CỐ MỚI   </a:t>
            </a:r>
            <a:pPr indent="0" marL="0">
              <a:buNone/>
            </a:pPr>
            <a:r>
              <a:rPr lang="en-US" sz="130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xuất hiện lần 1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4672584"/>
            <a:ext cx="5943600" cy="71323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9DFE7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31520" y="4672584"/>
            <a:ext cx="5669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20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Payment declined #77123 — chargeback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675120" y="4672584"/>
            <a:ext cx="4983480" cy="713232"/>
          </a:xfrm>
          <a:prstGeom prst="roundRect">
            <a:avLst>
              <a:gd name="adj" fmla="val 10256"/>
            </a:avLst>
          </a:prstGeom>
          <a:solidFill>
            <a:srgbClr val="E7F5EC"/>
          </a:solidFill>
          <a:ln w="15240">
            <a:solidFill>
              <a:srgbClr val="1F8A4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0" y="4672584"/>
            <a:ext cx="4663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8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♻️ ĐÃ GẶP (giống 96%)   </a:t>
            </a:r>
            <a:pPr indent="0" marL="0">
              <a:buNone/>
            </a:pPr>
            <a:r>
              <a:rPr lang="en-US" sz="130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xuất hiện lần 3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5623560"/>
            <a:ext cx="11109960" cy="731520"/>
          </a:xfrm>
          <a:prstGeom prst="roundRect">
            <a:avLst>
              <a:gd name="adj" fmla="val 10000"/>
            </a:avLst>
          </a:prstGeom>
          <a:solidFill>
            <a:srgbClr val="172033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562356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D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quả: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cảnh báo → chỉ 2 sự cố thật sự khác nhau. Người trực không bị spam 4 lần cho cùng 1 vấn đề. </a:t>
            </a:r>
            <a:pPr indent="0" marL="0">
              <a:buNone/>
            </a:pPr>
            <a:r>
              <a:rPr lang="en-US" sz="13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(7/7 test tự động PASS)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1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D4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 TTS · CÁCH HOẠT ĐỘNG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Biến chữ cảnh báo thành giọng nói tiếng Việt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514600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D9DFE7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96596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25603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Chữ cảnh báo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292608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"Cảnh báo nghiêm trọng. Hệ thống phát hiện gian lận…"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090672" y="2880360"/>
            <a:ext cx="237744" cy="0"/>
          </a:xfrm>
          <a:prstGeom prst="line">
            <a:avLst/>
          </a:prstGeom>
          <a:noFill/>
          <a:ln w="25400">
            <a:solidFill>
              <a:srgbClr val="6D4AA0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355848" y="1828800"/>
            <a:ext cx="2514600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D9DFE7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55848" y="196596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447288" y="25603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D4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AI giọng nói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93008" y="292608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facebook/mms-tts-vie tải 1 lần, chạy trên máy (CPU)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897880" y="2880360"/>
            <a:ext cx="237744" cy="0"/>
          </a:xfrm>
          <a:prstGeom prst="line">
            <a:avLst/>
          </a:prstGeom>
          <a:noFill/>
          <a:ln w="25400">
            <a:solidFill>
              <a:srgbClr val="6D4AA0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163056" y="1828800"/>
            <a:ext cx="2514600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D9DFE7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163056" y="196596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〰️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254496" y="25603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D4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Sóng âm thanh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00216" y="292608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tạo ra file âm thanh (WAV) đọc đúng câu tiếng Việt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705088" y="2880360"/>
            <a:ext cx="237744" cy="0"/>
          </a:xfrm>
          <a:prstGeom prst="line">
            <a:avLst/>
          </a:prstGeom>
          <a:noFill/>
          <a:ln w="25400">
            <a:solidFill>
              <a:srgbClr val="6D4AA0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8970264" y="1828800"/>
            <a:ext cx="2514600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D9DFE7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970264" y="196596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🔊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9061704" y="25603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8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 đọc to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107424" y="292608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Phát ra loa — nghe được ngay cả khi không nhìn màn hình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48640" y="4343400"/>
            <a:ext cx="11109960" cy="914400"/>
          </a:xfrm>
          <a:prstGeom prst="roundRect">
            <a:avLst>
              <a:gd name="adj" fmla="val 8000"/>
            </a:avLst>
          </a:prstGeom>
          <a:solidFill>
            <a:srgbClr val="F5F1FA"/>
          </a:solidFill>
          <a:ln w="15240">
            <a:solidFill>
              <a:srgbClr val="6D4AA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4343400"/>
            <a:ext cx="10744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D4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Ví von:  </a:t>
            </a:r>
            <a:pPr indent="0" marL="0">
              <a:buNone/>
            </a:pPr>
            <a:r>
              <a:rPr lang="en-US" sz="13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Giống một chiếc loa phát thanh tự động đọc thông báo — nhưng đây là AI đọc, phát âm tiếng Việt tự nhiên, và không cần internet sau khi cài.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548640" y="5440680"/>
            <a:ext cx="265176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D9DFE7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48640" y="55321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6D4A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Offline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548640" y="59436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 lần tải đầu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337560" y="5440680"/>
            <a:ext cx="265176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D9DFE7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3337560" y="55321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6D4A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CPU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3337560" y="59436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cần GPU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126480" y="5440680"/>
            <a:ext cx="265176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D9DFE7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126480" y="55321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6D4A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Tiếng Việt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6126480" y="59436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phát âm tự nhiên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915400" y="5440680"/>
            <a:ext cx="265176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D9DFE7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8915400" y="55321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6D4A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Tự fallback</a:t>
            </a:r>
            <a:endParaRPr lang="en-US" sz="1700" dirty="0"/>
          </a:p>
        </p:txBody>
      </p:sp>
      <p:sp>
        <p:nvSpPr>
          <p:cNvPr id="36" name="Text 34"/>
          <p:cNvSpPr/>
          <p:nvPr/>
        </p:nvSpPr>
        <p:spPr>
          <a:xfrm>
            <a:off x="8915400" y="59436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lỗi → chuyển beep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F1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D4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 TTS · BẰNG CHỨNG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Đã tạo ra giọng nói tiếng Việt thật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109960" cy="2286000"/>
          </a:xfrm>
          <a:prstGeom prst="roundRect">
            <a:avLst>
              <a:gd name="adj" fmla="val 3600"/>
            </a:avLst>
          </a:prstGeom>
          <a:solidFill>
            <a:srgbClr val="0E1420"/>
          </a:solidFill>
          <a:ln w="12700">
            <a:solidFill>
              <a:srgbClr val="D9DFE7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7830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Sóng âm của câu cảnh báo do AI đọc (file WAV thật)</a:t>
            </a:r>
            <a:endParaRPr lang="en-US" sz="1200" dirty="0"/>
          </a:p>
        </p:txBody>
      </p:sp>
      <p:pic>
        <p:nvPicPr>
          <p:cNvPr id="6" name="Image 0" descr="D:/AI/screen-watcher-pro/workshop/evidence/tts_wavefor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26945" y="2148840"/>
            <a:ext cx="7753350" cy="1691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41148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D4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Câu đọc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2514600" y="4114800"/>
            <a:ext cx="9052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"Cảnh báo nghiêm trọng. Hệ thống thanh toán phát hiện giao dịch gian lận. Vui lòng kiểm tra ngay."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85800" y="468172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D4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2514600" y="4681728"/>
            <a:ext cx="9052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facebook/mms-tts-vie  (Hugging Face, VITS/MMS-TTS)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685800" y="5248656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D4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Thông số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2514600" y="5248656"/>
            <a:ext cx="9052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5.86 giây · 16.000 Hz · mono · dựng trên CPU (không GPU)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685800" y="5815584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D4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toàn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2514600" y="5815584"/>
            <a:ext cx="9052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sau lần tải đầu · thiếu thư viện/lỗi → tự động beep, không chặn cảnh báo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685800" y="63550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4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File: workshop/evidence/tts_alert_vi.wav  ·  tts_mms_vie_sample.wav  ·  7/7 test tự động PASS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72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20304C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6858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TÓM LẠI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Hai trợ lý — mạnh nhưng an toàn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77240" y="1874520"/>
            <a:ext cx="566928" cy="566928"/>
          </a:xfrm>
          <a:prstGeom prst="ellipse">
            <a:avLst/>
          </a:prstGeom>
          <a:solidFill>
            <a:srgbClr val="20304C"/>
          </a:solidFill>
          <a:ln w="16510">
            <a:solidFill>
              <a:srgbClr val="0E7C8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874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🧠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54480" y="1856232"/>
            <a:ext cx="9966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ChromaDB:  </a:t>
            </a:r>
            <a:pPr indent="0" marL="0">
              <a:buNone/>
            </a:pPr>
            <a:r>
              <a:rPr lang="en-US" sz="15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Nhận ra sự cố lặp lại → bớt spam, người trực thấy đúng số vấn đề thật.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77240" y="2770632"/>
            <a:ext cx="566928" cy="566928"/>
          </a:xfrm>
          <a:prstGeom prst="ellipse">
            <a:avLst/>
          </a:prstGeom>
          <a:solidFill>
            <a:srgbClr val="20304C"/>
          </a:solidFill>
          <a:ln w="16510">
            <a:solidFill>
              <a:srgbClr val="6D4A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7706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🔊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554480" y="2752344"/>
            <a:ext cx="9966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D4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 TTS:  </a:t>
            </a:r>
            <a:pPr indent="0" marL="0">
              <a:buNone/>
            </a:pPr>
            <a:r>
              <a:rPr lang="en-US" sz="15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Đọc cảnh báo thành giọng nói tiếng Việt → nghe được, khó bỏ lỡ.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77240" y="3666744"/>
            <a:ext cx="566928" cy="566928"/>
          </a:xfrm>
          <a:prstGeom prst="ellipse">
            <a:avLst/>
          </a:prstGeom>
          <a:solidFill>
            <a:srgbClr val="20304C"/>
          </a:solidFill>
          <a:ln w="16510">
            <a:solidFill>
              <a:srgbClr val="B06E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66674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🔌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554480" y="3648456"/>
            <a:ext cx="9966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06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Tùy chọn:  </a:t>
            </a:r>
            <a:pPr indent="0" marL="0">
              <a:buNone/>
            </a:pPr>
            <a:r>
              <a:rPr lang="en-US" sz="15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 hai là "lắp thêm" (requirements-ml.txt). Không cài vẫn chạy: tự dùng bộ nhớ SQLite / beep.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77240" y="4562856"/>
            <a:ext cx="566928" cy="566928"/>
          </a:xfrm>
          <a:prstGeom prst="ellipse">
            <a:avLst/>
          </a:prstGeom>
          <a:solidFill>
            <a:srgbClr val="20304C"/>
          </a:solidFill>
          <a:ln w="16510">
            <a:solidFill>
              <a:srgbClr val="1F8A4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456285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🔒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554480" y="4544568"/>
            <a:ext cx="9966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8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&amp; không GPU:  </a:t>
            </a:r>
            <a:pPr indent="0" marL="0">
              <a:buNone/>
            </a:pPr>
            <a:r>
              <a:rPr lang="en-US" sz="15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Chạy ngay trên máy, không gửi dữ liệu ra ngoài, không cần card đồ họa.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77240" y="5458968"/>
            <a:ext cx="566928" cy="566928"/>
          </a:xfrm>
          <a:prstGeom prst="ellipse">
            <a:avLst/>
          </a:prstGeom>
          <a:solidFill>
            <a:srgbClr val="20304C"/>
          </a:solidFill>
          <a:ln w="16510">
            <a:solidFill>
              <a:srgbClr val="CADCF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54589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✅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554480" y="5440680"/>
            <a:ext cx="9966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 kiểm thử:  </a:t>
            </a:r>
            <a:pPr indent="0" marL="0">
              <a:buNone/>
            </a:pPr>
            <a:r>
              <a:rPr lang="en-US" sz="15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test tự động cho 2 tính năng · toàn dự án 119 test PASS.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Giải thích: ChromaDB &amp; HuggingFace TTS</dc:title>
  <dc:subject>PptxGenJS Presentation</dc:subject>
  <dc:creator>PptxGenJS</dc:creator>
  <cp:lastModifiedBy>PptxGenJS</cp:lastModifiedBy>
  <cp:revision>1</cp:revision>
  <dcterms:created xsi:type="dcterms:W3CDTF">2026-07-10T15:34:39Z</dcterms:created>
  <dcterms:modified xsi:type="dcterms:W3CDTF">2026-07-10T15:34:39Z</dcterms:modified>
</cp:coreProperties>
</file>