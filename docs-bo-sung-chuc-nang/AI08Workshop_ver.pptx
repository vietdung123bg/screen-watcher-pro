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1463d8740643bc" /><Relationship Type="http://schemas.openxmlformats.org/officeDocument/2006/relationships/extended-properties" Target="/docProps/app.xml" Id="Rd7c738f88af64073" /><Relationship Type="http://schemas.openxmlformats.org/officeDocument/2006/relationships/officeDocument" Target="/ppt/presentation.xml" Id="R8f2377dc0a0f4a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c2cf8d50874610"/>
  </p:sldMasterIdLst>
  <p:notesMasterIdLst>
    <p:notesMasterId xmlns:r="http://schemas.openxmlformats.org/officeDocument/2006/relationships" r:id="R62805c4e23f74227"/>
  </p:notesMasterIdLst>
  <p:sldIdLst>
    <p:sldId xmlns:r="http://schemas.openxmlformats.org/officeDocument/2006/relationships" id="256" r:id="R157b59a7060840c6"/>
    <p:sldId xmlns:r="http://schemas.openxmlformats.org/officeDocument/2006/relationships" id="257" r:id="R825878b954194667"/>
    <p:sldId xmlns:r="http://schemas.openxmlformats.org/officeDocument/2006/relationships" id="258" r:id="R22713b5cf93e487d"/>
    <p:sldId xmlns:r="http://schemas.openxmlformats.org/officeDocument/2006/relationships" id="259" r:id="Rc96640b6d7ad4d87"/>
    <p:sldId xmlns:r="http://schemas.openxmlformats.org/officeDocument/2006/relationships" id="260" r:id="R17200972728f444e"/>
    <p:sldId xmlns:r="http://schemas.openxmlformats.org/officeDocument/2006/relationships" id="261" r:id="R7033e544657f4e2f"/>
    <p:sldId xmlns:r="http://schemas.openxmlformats.org/officeDocument/2006/relationships" id="262" r:id="R9e50adf51b424310"/>
    <p:sldId xmlns:r="http://schemas.openxmlformats.org/officeDocument/2006/relationships" id="263" r:id="R81c329e7e4fc45ce"/>
    <p:sldId xmlns:r="http://schemas.openxmlformats.org/officeDocument/2006/relationships" id="264" r:id="Re50a28b48e3a4a02"/>
    <p:sldId xmlns:r="http://schemas.openxmlformats.org/officeDocument/2006/relationships" id="265" r:id="Rfe7daa38589349b3"/>
    <p:sldId xmlns:r="http://schemas.openxmlformats.org/officeDocument/2006/relationships" id="266" r:id="Ra3fd507760d3495b"/>
    <p:sldId xmlns:r="http://schemas.openxmlformats.org/officeDocument/2006/relationships" id="267" r:id="R415c966d75164611"/>
    <p:sldId xmlns:r="http://schemas.openxmlformats.org/officeDocument/2006/relationships" id="268" r:id="Rb328a735e6454779"/>
    <p:sldId xmlns:r="http://schemas.openxmlformats.org/officeDocument/2006/relationships" id="269" r:id="R2e9c068505494304"/>
    <p:sldId xmlns:r="http://schemas.openxmlformats.org/officeDocument/2006/relationships" id="270" r:id="R1503a71b248249f8"/>
    <p:sldId xmlns:r="http://schemas.openxmlformats.org/officeDocument/2006/relationships" id="271" r:id="R05eb68f25f1e4581"/>
    <p:sldId xmlns:r="http://schemas.openxmlformats.org/officeDocument/2006/relationships" id="272" r:id="Rff8d2310589c4175"/>
    <p:sldId xmlns:r="http://schemas.openxmlformats.org/officeDocument/2006/relationships" id="273" r:id="Rac1e34cd48064e2d"/>
    <p:sldId xmlns:r="http://schemas.openxmlformats.org/officeDocument/2006/relationships" id="274" r:id="Rc3d29a37cd4b4537"/>
    <p:sldId xmlns:r="http://schemas.openxmlformats.org/officeDocument/2006/relationships" id="275" r:id="Rbe5a116fb49945de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16a9660f224456" /><Relationship Type="http://schemas.openxmlformats.org/officeDocument/2006/relationships/slideMaster" Target="/ppt/slideMasters/slideMaster1.xml" Id="R9cc2cf8d50874610" /><Relationship Type="http://schemas.openxmlformats.org/officeDocument/2006/relationships/notesMaster" Target="/ppt/notesMasters/notesMaster1.xml" Id="R62805c4e23f74227" /><Relationship Type="http://schemas.openxmlformats.org/officeDocument/2006/relationships/presProps" Target="/ppt/presProps.xml" Id="Re586d21b984e473f" /><Relationship Type="http://schemas.openxmlformats.org/officeDocument/2006/relationships/tableStyles" Target="/ppt/tableStyles.xml" Id="R3c9d89fb5a8343d6" /><Relationship Type="http://schemas.openxmlformats.org/officeDocument/2006/relationships/slide" Target="/ppt/slides/slide1.xml" Id="R157b59a7060840c6" /><Relationship Type="http://schemas.openxmlformats.org/officeDocument/2006/relationships/slide" Target="/ppt/slides/slide2.xml" Id="R825878b954194667" /><Relationship Type="http://schemas.openxmlformats.org/officeDocument/2006/relationships/slide" Target="/ppt/slides/slide3.xml" Id="R22713b5cf93e487d" /><Relationship Type="http://schemas.openxmlformats.org/officeDocument/2006/relationships/slide" Target="/ppt/slides/slide4.xml" Id="Rc96640b6d7ad4d87" /><Relationship Type="http://schemas.openxmlformats.org/officeDocument/2006/relationships/slide" Target="/ppt/slides/slide5.xml" Id="R17200972728f444e" /><Relationship Type="http://schemas.openxmlformats.org/officeDocument/2006/relationships/slide" Target="/ppt/slides/slide6.xml" Id="R7033e544657f4e2f" /><Relationship Type="http://schemas.openxmlformats.org/officeDocument/2006/relationships/slide" Target="/ppt/slides/slide7.xml" Id="R9e50adf51b424310" /><Relationship Type="http://schemas.openxmlformats.org/officeDocument/2006/relationships/slide" Target="/ppt/slides/slide8.xml" Id="R81c329e7e4fc45ce" /><Relationship Type="http://schemas.openxmlformats.org/officeDocument/2006/relationships/slide" Target="/ppt/slides/slide9.xml" Id="Re50a28b48e3a4a02" /><Relationship Type="http://schemas.openxmlformats.org/officeDocument/2006/relationships/slide" Target="/ppt/slides/slide10.xml" Id="Rfe7daa38589349b3" /><Relationship Type="http://schemas.openxmlformats.org/officeDocument/2006/relationships/slide" Target="/ppt/slides/slide11.xml" Id="Ra3fd507760d3495b" /><Relationship Type="http://schemas.openxmlformats.org/officeDocument/2006/relationships/slide" Target="/ppt/slides/slide12.xml" Id="R415c966d75164611" /><Relationship Type="http://schemas.openxmlformats.org/officeDocument/2006/relationships/slide" Target="/ppt/slides/slide13.xml" Id="Rb328a735e6454779" /><Relationship Type="http://schemas.openxmlformats.org/officeDocument/2006/relationships/slide" Target="/ppt/slides/slide14.xml" Id="R2e9c068505494304" /><Relationship Type="http://schemas.openxmlformats.org/officeDocument/2006/relationships/slide" Target="/ppt/slides/slide15.xml" Id="R1503a71b248249f8" /><Relationship Type="http://schemas.openxmlformats.org/officeDocument/2006/relationships/slide" Target="/ppt/slides/slide16.xml" Id="R05eb68f25f1e4581" /><Relationship Type="http://schemas.openxmlformats.org/officeDocument/2006/relationships/slide" Target="/ppt/slides/slide17.xml" Id="Rff8d2310589c4175" /><Relationship Type="http://schemas.openxmlformats.org/officeDocument/2006/relationships/slide" Target="/ppt/slides/slide18.xml" Id="Rac1e34cd48064e2d" /><Relationship Type="http://schemas.openxmlformats.org/officeDocument/2006/relationships/slide" Target="/ppt/slides/slide19.xml" Id="Rc3d29a37cd4b4537" /><Relationship Type="http://schemas.openxmlformats.org/officeDocument/2006/relationships/slide" Target="/ppt/slides/slide20.xml" Id="Rbe5a116fb49945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aa9c53aa8f4c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82c81e844e441c" /><Relationship Type="http://schemas.openxmlformats.org/officeDocument/2006/relationships/notesMaster" Target="/ppt/notesMasters/notesMaster1.xml" Id="R2df8306088eb48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0fb94d06364b38" /><Relationship Type="http://schemas.openxmlformats.org/officeDocument/2006/relationships/notesMaster" Target="/ppt/notesMasters/notesMaster1.xml" Id="R189f4c53215246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3fb925407b4fa3" /><Relationship Type="http://schemas.openxmlformats.org/officeDocument/2006/relationships/notesMaster" Target="/ppt/notesMasters/notesMaster1.xml" Id="R66c291da69644e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8fcc748b074f05" /><Relationship Type="http://schemas.openxmlformats.org/officeDocument/2006/relationships/notesMaster" Target="/ppt/notesMasters/notesMaster1.xml" Id="R5e1b192690644e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acb1a0a8aa4a72" /><Relationship Type="http://schemas.openxmlformats.org/officeDocument/2006/relationships/notesMaster" Target="/ppt/notesMasters/notesMaster1.xml" Id="Ra8e31507dd0942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4f5e755e834e1b" /><Relationship Type="http://schemas.openxmlformats.org/officeDocument/2006/relationships/notesMaster" Target="/ppt/notesMasters/notesMaster1.xml" Id="Rf0d5be707a504d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5d62b016694e41" /><Relationship Type="http://schemas.openxmlformats.org/officeDocument/2006/relationships/notesMaster" Target="/ppt/notesMasters/notesMaster1.xml" Id="Recf98911c1114c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61885d2a374256" /><Relationship Type="http://schemas.openxmlformats.org/officeDocument/2006/relationships/notesMaster" Target="/ppt/notesMasters/notesMaster1.xml" Id="R4c3ede9c532045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f321cc97a54390" /><Relationship Type="http://schemas.openxmlformats.org/officeDocument/2006/relationships/notesMaster" Target="/ppt/notesMasters/notesMaster1.xml" Id="R7367537ac91b4e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5d05d135bc493b" /><Relationship Type="http://schemas.openxmlformats.org/officeDocument/2006/relationships/notesMaster" Target="/ppt/notesMasters/notesMaster1.xml" Id="Rc5757279e9254e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6e361528ae4827" /><Relationship Type="http://schemas.openxmlformats.org/officeDocument/2006/relationships/notesMaster" Target="/ppt/notesMasters/notesMaster1.xml" Id="Rae176c9a452346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29abaaebf74bfa" /><Relationship Type="http://schemas.openxmlformats.org/officeDocument/2006/relationships/notesMaster" Target="/ppt/notesMasters/notesMaster1.xml" Id="Rcdf7daf0fb1e4b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fe4d4c73724370" /><Relationship Type="http://schemas.openxmlformats.org/officeDocument/2006/relationships/notesMaster" Target="/ppt/notesMasters/notesMaster1.xml" Id="R5f512ed887d04e6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62b19e76b94615" /><Relationship Type="http://schemas.openxmlformats.org/officeDocument/2006/relationships/notesMaster" Target="/ppt/notesMasters/notesMaster1.xml" Id="R38de3c2ec03b48a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a3dc42120c84a7c" /><Relationship Type="http://schemas.openxmlformats.org/officeDocument/2006/relationships/notesMaster" Target="/ppt/notesMasters/notesMaster1.xml" Id="R59f6bea8f5d644e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6e1fbd8628f4edf" /><Relationship Type="http://schemas.openxmlformats.org/officeDocument/2006/relationships/notesMaster" Target="/ppt/notesMasters/notesMaster1.xml" Id="Ra1f7fd1f489b4d8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7c962d216364dab" /><Relationship Type="http://schemas.openxmlformats.org/officeDocument/2006/relationships/notesMaster" Target="/ppt/notesMasters/notesMaster1.xml" Id="Rb1aa8ae7d87646c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e56a4c8c9a24338" /><Relationship Type="http://schemas.openxmlformats.org/officeDocument/2006/relationships/notesMaster" Target="/ppt/notesMasters/notesMaster1.xml" Id="R565bc0e344e64aa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d905bdb1e624447" /><Relationship Type="http://schemas.openxmlformats.org/officeDocument/2006/relationships/notesMaster" Target="/ppt/notesMasters/notesMaster1.xml" Id="Rad4fd76656f3420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c5f7ea198b14490" /><Relationship Type="http://schemas.openxmlformats.org/officeDocument/2006/relationships/notesMaster" Target="/ppt/notesMasters/notesMaster1.xml" Id="Rc13d94c97d714e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5dcce2cc14ad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7a8ac6639145f9" /><Relationship Type="http://schemas.openxmlformats.org/officeDocument/2006/relationships/slideLayout" Target="/ppt/slideLayouts/slideLayout1.xml" Id="Re142afd0f3b04fa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42afd0f3b04fa9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db39d377f430e" /><Relationship Type="http://schemas.openxmlformats.org/officeDocument/2006/relationships/notesSlide" Target="/ppt/notesSlides/notesSlide1.xml" Id="R810f2c978fb64f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815ed5b834ff7" /><Relationship Type="http://schemas.openxmlformats.org/officeDocument/2006/relationships/notesSlide" Target="/ppt/notesSlides/notesSlide2.xml" Id="R70c94f1d7ee044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9bb844c30406e" /><Relationship Type="http://schemas.openxmlformats.org/officeDocument/2006/relationships/notesSlide" Target="/ppt/notesSlides/notesSlide3.xml" Id="R2c3e68b7747642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cea5802024fb6" /><Relationship Type="http://schemas.openxmlformats.org/officeDocument/2006/relationships/notesSlide" Target="/ppt/notesSlides/notesSlide4.xml" Id="Rb253d71397b749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1526802594d7e" /><Relationship Type="http://schemas.openxmlformats.org/officeDocument/2006/relationships/notesSlide" Target="/ppt/notesSlides/notesSlide5.xml" Id="R140fc716bb1e47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87851f3d14000" /><Relationship Type="http://schemas.openxmlformats.org/officeDocument/2006/relationships/notesSlide" Target="/ppt/notesSlides/notesSlide6.xml" Id="R0a2f6e996bc742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f7f67ae2445a7" /><Relationship Type="http://schemas.openxmlformats.org/officeDocument/2006/relationships/notesSlide" Target="/ppt/notesSlides/notesSlide7.xml" Id="Ra609d205e6794b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651c7fca44167" /><Relationship Type="http://schemas.openxmlformats.org/officeDocument/2006/relationships/notesSlide" Target="/ppt/notesSlides/notesSlide8.xml" Id="R0bb04a84765043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e845221884272" /><Relationship Type="http://schemas.openxmlformats.org/officeDocument/2006/relationships/notesSlide" Target="/ppt/notesSlides/notesSlide9.xml" Id="R0ce4a0d6d29440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7a73dad7e4e64" /><Relationship Type="http://schemas.openxmlformats.org/officeDocument/2006/relationships/notesSlide" Target="/ppt/notesSlides/notesSlide10.xml" Id="Rcb17b25cbb2046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e78c739aa46b2" /><Relationship Type="http://schemas.openxmlformats.org/officeDocument/2006/relationships/notesSlide" Target="/ppt/notesSlides/notesSlide11.xml" Id="Redb24ec1b24c42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2e3bfaf70430d" /><Relationship Type="http://schemas.openxmlformats.org/officeDocument/2006/relationships/notesSlide" Target="/ppt/notesSlides/notesSlide12.xml" Id="R06641d82eb8246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8e539aff04fad" /><Relationship Type="http://schemas.openxmlformats.org/officeDocument/2006/relationships/notesSlide" Target="/ppt/notesSlides/notesSlide13.xml" Id="R04326c4c678645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9f8e1b7a94af0" /><Relationship Type="http://schemas.openxmlformats.org/officeDocument/2006/relationships/image" Target="/ppt/media/image.png" Id="R139c1e9ffe864e94" /><Relationship Type="http://schemas.openxmlformats.org/officeDocument/2006/relationships/image" Target="/ppt/media/image2.png" Id="Rf9a37a7aaa1141be" /><Relationship Type="http://schemas.openxmlformats.org/officeDocument/2006/relationships/notesSlide" Target="/ppt/notesSlides/notesSlide14.xml" Id="R25d40e7a44f449e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1462d8af646c1" /><Relationship Type="http://schemas.openxmlformats.org/officeDocument/2006/relationships/image" Target="/ppt/media/image3.png" Id="R47f22305884140c4" /><Relationship Type="http://schemas.openxmlformats.org/officeDocument/2006/relationships/notesSlide" Target="/ppt/notesSlides/notesSlide15.xml" Id="R767ae35b4eb140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6d17d9d1d4bee" /><Relationship Type="http://schemas.openxmlformats.org/officeDocument/2006/relationships/image" Target="/ppt/media/image4.png" Id="Ra6c000a375404ff9" /><Relationship Type="http://schemas.openxmlformats.org/officeDocument/2006/relationships/notesSlide" Target="/ppt/notesSlides/notesSlide16.xml" Id="Ra5fc19a9903c4cb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5caf20dfb41eb" /><Relationship Type="http://schemas.openxmlformats.org/officeDocument/2006/relationships/notesSlide" Target="/ppt/notesSlides/notesSlide17.xml" Id="R6125bcbed3e74df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f10a0ec6f4661" /><Relationship Type="http://schemas.openxmlformats.org/officeDocument/2006/relationships/notesSlide" Target="/ppt/notesSlides/notesSlide18.xml" Id="Rd8e9269583214a4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5c69daca0436a" /><Relationship Type="http://schemas.openxmlformats.org/officeDocument/2006/relationships/notesSlide" Target="/ppt/notesSlides/notesSlide19.xml" Id="Rb7271e2102b0475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e7764f1a94a71" /><Relationship Type="http://schemas.openxmlformats.org/officeDocument/2006/relationships/image" Target="/ppt/media/image5.png" Id="Rc8b5d3559ff94af4" /><Relationship Type="http://schemas.openxmlformats.org/officeDocument/2006/relationships/image" Target="/ppt/media/image6.png" Id="Rf0e331848d9d4775" /><Relationship Type="http://schemas.openxmlformats.org/officeDocument/2006/relationships/notesSlide" Target="/ppt/notesSlides/notesSlide20.xml" Id="R7b56df2bc86643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A2C382C-74D2-40AA-80F0-94250E78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2040"/>
            <a:ext cx="5486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B7BB8"/>
                </a:solidFill>
                <a:latin typeface="Arial"/>
                <a:ea typeface="Arial"/>
                <a:cs typeface="Arial"/>
              </a:rPr>
              <a:t>AI08 Workshop  •  Screen Watcher Pro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F41D5E7-2F11-4ECC-92A3-921A9582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92040"/>
            <a:ext cx="320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BB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D2DCFBF-331B-4C44-8774-BC5E0F5B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68680"/>
            <a:ext cx="786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300">
                <a:solidFill>
                  <a:srgbClr val="CADCFC"/>
                </a:solidFill>
                <a:latin typeface="Arial"/>
                <a:ea typeface="Arial"/>
                <a:cs typeface="Arial"/>
              </a:rPr>
              <a:t>AI08 WORKSHOP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78D3D3F-D4C0-4DC9-88F2-702364E5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34440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Tool Watcher API Server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0459E18-889D-485F-9D50-3DE2FDF0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và Jupyter AI Chatbox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AF57AE-8A2C-4C37-8D19-A1476868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0"/>
            <a:ext cx="7863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CADCFC"/>
                </a:solidFill>
                <a:latin typeface="Arial"/>
                <a:ea typeface="Arial"/>
                <a:cs typeface="Arial"/>
              </a:rPr>
              <a:t>Từ automation observer đến AI assisted operation assistant</a:t>
            </a:r>
          </a:p>
        </p:txBody>
      </p:sp>
      <p:graphicFrame>
        <p:nvGraphicFramePr>
          <p:cNvPr id="15" name="Table 0"/>
          <p:cNvGraphicFramePr/>
          <p:nvPr/>
        </p:nvGraphicFramePr>
        <p:xfrm>
          <a:off xmlns:a="http://schemas.openxmlformats.org/drawingml/2006/main" x="640080" y="3246120"/>
          <a:ext xmlns:a="http://schemas.openxmlformats.org/drawingml/2006/main" cx="786384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77440"/>
                <a:gridCol w="5486400"/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CADCFC"/>
                          </a:solidFill>
                          <a:latin typeface="Arial"/>
                          <a:ea typeface="Arial"/>
                          <a:cs typeface="Arial"/>
                        </a:rPr>
                        <a:t>Loại tài liệu</a:t>
                      </a:r>
                    </a:p>
                  </a:txBody>
                  <a:tcPr marL="54864" marR="54864" marT="54864" marB="54864" anchor="ctr">
                    <a:lnL w="6350" cmpd="sng">
                      <a:solidFill>
                        <a:srgbClr val="3A4A8A"/>
                      </a:solidFill>
                      <a:prstDash val="solid"/>
                    </a:lnL>
                    <a:lnR w="6350" cmpd="sng">
                      <a:solidFill>
                        <a:srgbClr val="3A4A8A"/>
                      </a:solidFill>
                      <a:prstDash val="solid"/>
                    </a:lnR>
                    <a:lnT w="6350" cmpd="sng">
                      <a:solidFill>
                        <a:srgbClr val="3A4A8A"/>
                      </a:solidFill>
                      <a:prstDash val="solid"/>
                    </a:lnT>
                    <a:lnB w="6350" cmpd="sng">
                      <a:solidFill>
                        <a:srgbClr val="3A4A8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CADCFC"/>
                          </a:solidFill>
                          <a:latin typeface="Arial"/>
                          <a:ea typeface="Arial"/>
                          <a:cs typeface="Arial"/>
                        </a:rPr>
                        <a:t>Product Requirement Appendix — Workshop Report</a:t>
                      </a:r>
                    </a:p>
                  </a:txBody>
                  <a:tcPr marL="54864" marR="54864" marT="54864" marB="54864" anchor="ctr">
                    <a:lnL w="6350" cmpd="sng">
                      <a:solidFill>
                        <a:srgbClr val="3A4A8A"/>
                      </a:solidFill>
                      <a:prstDash val="solid"/>
                    </a:lnL>
                    <a:lnR w="6350" cmpd="sng">
                      <a:solidFill>
                        <a:srgbClr val="3A4A8A"/>
                      </a:solidFill>
                      <a:prstDash val="solid"/>
                    </a:lnR>
                    <a:lnT w="6350" cmpd="sng">
                      <a:solidFill>
                        <a:srgbClr val="3A4A8A"/>
                      </a:solidFill>
                      <a:prstDash val="solid"/>
                    </a:lnT>
                    <a:lnB w="6350" cmpd="sng">
                      <a:solidFill>
                        <a:srgbClr val="3A4A8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CADCFC"/>
                          </a:solidFill>
                          <a:latin typeface="Arial"/>
                          <a:ea typeface="Arial"/>
                          <a:cs typeface="Arial"/>
                        </a:rPr>
                        <a:t>Phạm vi</a:t>
                      </a:r>
                    </a:p>
                  </a:txBody>
                  <a:tcPr marL="54864" marR="54864" marT="54864" marB="54864" anchor="ctr">
                    <a:lnL w="6350" cmpd="sng">
                      <a:solidFill>
                        <a:srgbClr val="3A4A8A"/>
                      </a:solidFill>
                      <a:prstDash val="solid"/>
                    </a:lnL>
                    <a:lnR w="6350" cmpd="sng">
                      <a:solidFill>
                        <a:srgbClr val="3A4A8A"/>
                      </a:solidFill>
                      <a:prstDash val="solid"/>
                    </a:lnR>
                    <a:lnT w="6350" cmpd="sng">
                      <a:solidFill>
                        <a:srgbClr val="3A4A8A"/>
                      </a:solidFill>
                      <a:prstDash val="solid"/>
                    </a:lnT>
                    <a:lnB w="6350" cmpd="sng">
                      <a:solidFill>
                        <a:srgbClr val="3A4A8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CADCFC"/>
                          </a:solidFill>
                          <a:latin typeface="Arial"/>
                          <a:ea typeface="Arial"/>
                          <a:cs typeface="Arial"/>
                        </a:rPr>
                        <a:t>Workshop AI Product Development</a:t>
                      </a:r>
                    </a:p>
                  </a:txBody>
                  <a:tcPr marL="54864" marR="54864" marT="54864" marB="54864" anchor="ctr">
                    <a:lnL w="6350" cmpd="sng">
                      <a:solidFill>
                        <a:srgbClr val="3A4A8A"/>
                      </a:solidFill>
                      <a:prstDash val="solid"/>
                    </a:lnL>
                    <a:lnR w="6350" cmpd="sng">
                      <a:solidFill>
                        <a:srgbClr val="3A4A8A"/>
                      </a:solidFill>
                      <a:prstDash val="solid"/>
                    </a:lnR>
                    <a:lnT w="6350" cmpd="sng">
                      <a:solidFill>
                        <a:srgbClr val="3A4A8A"/>
                      </a:solidFill>
                      <a:prstDash val="solid"/>
                    </a:lnT>
                    <a:lnB w="6350" cmpd="sng">
                      <a:solidFill>
                        <a:srgbClr val="3A4A8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CADCFC"/>
                          </a:solidFill>
                          <a:latin typeface="Arial"/>
                          <a:ea typeface="Arial"/>
                          <a:cs typeface="Arial"/>
                        </a:rPr>
                        <a:t>Đối tượng</a:t>
                      </a:r>
                    </a:p>
                  </a:txBody>
                  <a:tcPr marL="54864" marR="54864" marT="54864" marB="54864" anchor="ctr">
                    <a:lnL w="6350" cmpd="sng">
                      <a:solidFill>
                        <a:srgbClr val="3A4A8A"/>
                      </a:solidFill>
                      <a:prstDash val="solid"/>
                    </a:lnL>
                    <a:lnR w="6350" cmpd="sng">
                      <a:solidFill>
                        <a:srgbClr val="3A4A8A"/>
                      </a:solidFill>
                      <a:prstDash val="solid"/>
                    </a:lnR>
                    <a:lnT w="6350" cmpd="sng">
                      <a:solidFill>
                        <a:srgbClr val="3A4A8A"/>
                      </a:solidFill>
                      <a:prstDash val="solid"/>
                    </a:lnT>
                    <a:lnB w="6350" cmpd="sng">
                      <a:solidFill>
                        <a:srgbClr val="3A4A8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CADCFC"/>
                          </a:solidFill>
                          <a:latin typeface="Arial"/>
                          <a:ea typeface="Arial"/>
                          <a:cs typeface="Arial"/>
                        </a:rPr>
                        <a:t>Product Owner, BA, Dev, QA, Operation Engineer, Trainer</a:t>
                      </a:r>
                    </a:p>
                  </a:txBody>
                  <a:tcPr marL="54864" marR="54864" marT="54864" marB="54864" anchor="ctr">
                    <a:lnL w="6350" cmpd="sng">
                      <a:solidFill>
                        <a:srgbClr val="3A4A8A"/>
                      </a:solidFill>
                      <a:prstDash val="solid"/>
                    </a:lnL>
                    <a:lnR w="6350" cmpd="sng">
                      <a:solidFill>
                        <a:srgbClr val="3A4A8A"/>
                      </a:solidFill>
                      <a:prstDash val="solid"/>
                    </a:lnR>
                    <a:lnT w="6350" cmpd="sng">
                      <a:solidFill>
                        <a:srgbClr val="3A4A8A"/>
                      </a:solidFill>
                      <a:prstDash val="solid"/>
                    </a:lnT>
                    <a:lnB w="6350" cmpd="sng">
                      <a:solidFill>
                        <a:srgbClr val="3A4A8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CADCFC"/>
                          </a:solidFill>
                          <a:latin typeface="Arial"/>
                          <a:ea typeface="Arial"/>
                          <a:cs typeface="Arial"/>
                        </a:rPr>
                        <a:t>Phiên bản spec gốc</a:t>
                      </a:r>
                    </a:p>
                  </a:txBody>
                  <a:tcPr marL="54864" marR="54864" marT="54864" marB="54864" anchor="ctr">
                    <a:lnL w="6350" cmpd="sng">
                      <a:solidFill>
                        <a:srgbClr val="3A4A8A"/>
                      </a:solidFill>
                      <a:prstDash val="solid"/>
                    </a:lnL>
                    <a:lnR w="6350" cmpd="sng">
                      <a:solidFill>
                        <a:srgbClr val="3A4A8A"/>
                      </a:solidFill>
                      <a:prstDash val="solid"/>
                    </a:lnR>
                    <a:lnT w="6350" cmpd="sng">
                      <a:solidFill>
                        <a:srgbClr val="3A4A8A"/>
                      </a:solidFill>
                      <a:prstDash val="solid"/>
                    </a:lnT>
                    <a:lnB w="6350" cmpd="sng">
                      <a:solidFill>
                        <a:srgbClr val="3A4A8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CADCFC"/>
                          </a:solidFill>
                          <a:latin typeface="Arial"/>
                          <a:ea typeface="Arial"/>
                          <a:cs typeface="Arial"/>
                        </a:rPr>
                        <a:t>1.0 — 01/07/2026</a:t>
                      </a:r>
                    </a:p>
                  </a:txBody>
                  <a:tcPr marL="54864" marR="54864" marT="54864" marB="54864" anchor="ctr">
                    <a:lnL w="6350" cmpd="sng">
                      <a:solidFill>
                        <a:srgbClr val="3A4A8A"/>
                      </a:solidFill>
                      <a:prstDash val="solid"/>
                    </a:lnL>
                    <a:lnR w="6350" cmpd="sng">
                      <a:solidFill>
                        <a:srgbClr val="3A4A8A"/>
                      </a:solidFill>
                      <a:prstDash val="solid"/>
                    </a:lnR>
                    <a:lnT w="6350" cmpd="sng">
                      <a:solidFill>
                        <a:srgbClr val="3A4A8A"/>
                      </a:solidFill>
                      <a:prstDash val="solid"/>
                    </a:lnT>
                    <a:lnB w="6350" cmpd="sng">
                      <a:solidFill>
                        <a:srgbClr val="3A4A8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81186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FF972F-C1BB-48A2-A67E-81CB10F4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28090"/>
                </a:solidFill>
                <a:latin typeface="Arial"/>
                <a:ea typeface="Arial"/>
                <a:cs typeface="Arial"/>
              </a:rPr>
              <a:t>AGENDA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E128899-5FE2-4AA5-BE59-235F8900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Nội dung workshop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05EB69-57F0-456E-B2C6-64C82D7B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2040"/>
            <a:ext cx="5486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AI08 Workshop  •  Screen Watcher Pro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5E9F2D0-8A3F-45C6-9D23-D8298296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92040"/>
            <a:ext cx="320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5F4B031-5389-42CD-A38E-1AA242CC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393192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7D1AB9-0A4A-40C3-A3A9-CC7A838F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34440"/>
            <a:ext cx="64008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2809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9781CB6-917F-489E-B784-68F8A1AC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289304"/>
            <a:ext cx="3063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Business Context &amp; Vision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Vấn đề, tầm nhìn sản phẩm, success metrics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84B23A7-26BF-4AEC-9775-BADDD15D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234440"/>
            <a:ext cx="393192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31A9F7C-7BFC-4011-B855-BCCF618F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1234440"/>
            <a:ext cx="64008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2809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1EB4D2E-3883-47C2-BD5F-6EC55556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289304"/>
            <a:ext cx="3063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Stakeholders &amp; Business Flow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Persona, As-Is / To-Be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84C420A-40AD-42AA-AFA2-DE1639C1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8840"/>
            <a:ext cx="393192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DEB7205-0984-435A-A5E3-82099C9C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48840"/>
            <a:ext cx="64008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2809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21A0EA4-947E-47BC-9B48-B5C23458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203704"/>
            <a:ext cx="3063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Solution Architecture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C4 context, container, component design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AF2C27E-4ACE-496D-86B9-9EC66ED2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148840"/>
            <a:ext cx="393192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D8A7020-1A08-49D0-AF7C-5397BEF5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148840"/>
            <a:ext cx="64008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2809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9E80DB4-D79A-4B07-9FFC-87AF3F63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203704"/>
            <a:ext cx="3063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API &amp; AI Integration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API spec, OpenCode CLI Adapter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5FF84EC-9C56-4888-9A30-2A631317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3240"/>
            <a:ext cx="393192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771E9D9-D0B6-4718-8799-79CD8BB4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63240"/>
            <a:ext cx="64008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2809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A51B973-91AF-45A3-9F1B-05660172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118104"/>
            <a:ext cx="3063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Jupyter Notebook Client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Chatbox demo local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CD21D79-19E7-464A-AD5B-CD5183D7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063240"/>
            <a:ext cx="393192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75B996B-F07F-4B70-9631-DA148E8D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063240"/>
            <a:ext cx="64008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2809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893462B-69C3-4BCC-AA0B-1883BE7D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118104"/>
            <a:ext cx="3063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Requirements &amp; Security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FR/NFR, governance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3A2A614-7CF6-4DBE-8A9C-BDE0E67A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7640"/>
            <a:ext cx="393192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171ABA5-2F9A-4308-A22C-669551F5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77640"/>
            <a:ext cx="64008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2809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6451295-B5B0-446E-AB77-30940AB2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032504"/>
            <a:ext cx="3063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Evidence — Code chạy thật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Server, notebook, test suite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E8C7CAB-D9FD-4940-B503-0999C0F8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977640"/>
            <a:ext cx="393192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41BA80C-A29E-4434-9D9D-4EEF49A6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977640"/>
            <a:ext cx="64008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2809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019C675-A4B5-4FB4-8D01-901F4A06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4032504"/>
            <a:ext cx="3063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Roadmap &amp; Kết luận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MVP, next phase</a:t>
            </a:r>
          </a:p>
        </p:txBody>
      </p:sp>
    </p:spTree>
    <p:extLst>
      <p:ext uri="{BB962C8B-B14F-4D97-AF65-F5344CB8AC3E}">
        <p14:creationId xmlns:p14="http://schemas.microsoft.com/office/powerpoint/2010/main" val="16268463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505A55B-A612-4C64-98D8-2496FFC1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28090"/>
                </a:solidFill>
                <a:latin typeface="Arial"/>
                <a:ea typeface="Arial"/>
                <a:cs typeface="Arial"/>
              </a:rPr>
              <a:t>§1–3  EXECUTIVE SUMMARY &amp; VISION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D1547EC-A374-4E8F-84DB-98D3F055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Từ screen monitoring đến AI assisted operation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B62A72A-EF87-427E-B64A-26ACD583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2040"/>
            <a:ext cx="5486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AI08 Workshop  •  Screen Watcher Pro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D8E70E6-43E3-4575-BC31-326E0FC8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92040"/>
            <a:ext cx="320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18D11FA-3C20-4465-964C-BBC83669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82296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E293B"/>
                </a:solidFill>
                <a:latin typeface="Arial"/>
                <a:ea typeface="Arial"/>
                <a:cs typeface="Arial"/>
              </a:rPr>
              <a:t>Tool Watcher hiện có </a:t>
            </a:r>
            <a:r>
              <a:rPr sz="13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chụp màn hình, OCR, kiểm tra rule, gửi email cảnh báo</a:t>
            </a:r>
            <a:r>
              <a:rPr sz="1300">
                <a:solidFill>
                  <a:srgbClr val="1E293B"/>
                </a:solidFill>
                <a:latin typeface="Arial"/>
                <a:ea typeface="Arial"/>
                <a:cs typeface="Arial"/>
              </a:rPr>
              <a:t>. Phần mở rộng biến nó thành </a:t>
            </a:r>
            <a:r>
              <a:rPr sz="1300" b="1">
                <a:solidFill>
                  <a:srgbClr val="028090"/>
                </a:solidFill>
                <a:latin typeface="Arial"/>
                <a:ea typeface="Arial"/>
                <a:cs typeface="Arial"/>
              </a:rPr>
              <a:t>backend có API</a:t>
            </a:r>
            <a:r>
              <a:rPr sz="1300">
                <a:solidFill>
                  <a:srgbClr val="1E293B"/>
                </a:solidFill>
                <a:latin typeface="Arial"/>
                <a:ea typeface="Arial"/>
                <a:cs typeface="Arial"/>
              </a:rPr>
              <a:t>, cho phép người dùng hỏi đáp qua Jupyter Notebook chatbox — server bổ sung context (OCR, rule, audit) rồi gọi AI qua OpenCode CLI để trả lời.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DAA3741-9ACD-4529-9A55-66C166CD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0280"/>
            <a:ext cx="192024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8E44AAA-BA46-4F23-B4A6-767B53A3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359152"/>
            <a:ext cx="168249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Expose API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6C3AECD-3B1F-4F43-AC25-CEA0931B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788920"/>
            <a:ext cx="1682496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Arial"/>
                <a:ea typeface="Arial"/>
                <a:cs typeface="Arial"/>
              </a:rPr>
              <a:t>Tool Watcher hoạt động như local server thay vì chỉ CLI theo lịch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E16A93A-F851-41C8-A056-0BA97548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2240280"/>
            <a:ext cx="192024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206F6D7-D3DF-4B90-A6A5-7DED969F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904" y="2359152"/>
            <a:ext cx="168249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Jupyter Chatbox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EBBED36-885D-4263-B633-89A730FE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904" y="2788920"/>
            <a:ext cx="1682496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Arial"/>
                <a:ea typeface="Arial"/>
                <a:cs typeface="Arial"/>
              </a:rPr>
              <a:t>Giao diện chat nhanh cho demo &amp; kiểm thử, không cần web app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403A705-D3F0-415E-BEB4-9B9D07AF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2240280"/>
            <a:ext cx="192024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28090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382E8D2-E6B2-4400-984D-B1981A16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2359152"/>
            <a:ext cx="168249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OpenCode CLI Adapter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43C71D8-D4D6-4A7D-AA47-1C52E2A1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2788920"/>
            <a:ext cx="1682496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0F7F8"/>
                </a:solidFill>
                <a:latin typeface="Arial"/>
                <a:ea typeface="Arial"/>
                <a:cs typeface="Arial"/>
              </a:rPr>
              <a:t>Tách logic AI provider khỏi nghiệp vụ watcher — dễ đổi Llama ↔ Azure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D13C59A-4FA6-4F5D-83E1-BD6BDC22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240280"/>
            <a:ext cx="192024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DB95391-1698-44F1-BAEE-78348715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2359152"/>
            <a:ext cx="168249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AI Assisted Analysis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4415A6B-C51D-41CD-B694-2986038E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2788920"/>
            <a:ext cx="1682496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Arial"/>
                <a:ea typeface="Arial"/>
                <a:cs typeface="Arial"/>
              </a:rPr>
              <a:t>Hỏi AI về OCR, rule matched, trạng thái và hành động đề xuất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07FA53C-F0A5-4709-8CF4-49179E99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764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Thông điệp: </a:t>
            </a:r>
            <a:r>
              <a:rPr sz="1150" i="1">
                <a:solidFill>
                  <a:srgbClr val="64748B"/>
                </a:solidFill>
                <a:latin typeface="Arial"/>
                <a:ea typeface="Arial"/>
                <a:cs typeface="Arial"/>
              </a:rPr>
              <a:t>Tool Watcher không chỉ quan sát và cảnh báo — nó trở thành AI assisted operation assistant, giúp hỏi đáp và phân tích kết quả giám sát bằng ngôn ngữ tự nhiên.</a:t>
            </a:r>
          </a:p>
        </p:txBody>
      </p:sp>
    </p:spTree>
    <p:extLst>
      <p:ext uri="{BB962C8B-B14F-4D97-AF65-F5344CB8AC3E}">
        <p14:creationId xmlns:p14="http://schemas.microsoft.com/office/powerpoint/2010/main" val="4652315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7AA920-C3FF-4A33-841D-569D3E7D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28090"/>
                </a:solidFill>
                <a:latin typeface="Arial"/>
                <a:ea typeface="Arial"/>
                <a:cs typeface="Arial"/>
              </a:rPr>
              <a:t>§2  BUSINESS CONTEXT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7D8A9C4-F894-4218-ADA6-A76C7207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Pain point và cách phần mở rộng giải quyết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B7607C4-5301-488F-BD51-A00BD3A2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2040"/>
            <a:ext cx="5486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AI08 Workshop  •  Screen Watcher Pro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54FEB4A-7E94-4D54-B0B2-904D5F0A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92040"/>
            <a:ext cx="320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11" name="Table 0"/>
          <p:cNvGraphicFramePr/>
          <p:nvPr/>
        </p:nvGraphicFramePr>
        <p:xfrm>
          <a:off xmlns:a="http://schemas.openxmlformats.org/drawingml/2006/main" x="457200" y="1234440"/>
          <a:ext xmlns:a="http://schemas.openxmlformats.org/drawingml/2006/main" cx="82296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77440"/>
                <a:gridCol w="2834640"/>
                <a:gridCol w="3017520"/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Pain Point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Tác động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Giải pháp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Không có giao diện hỏi đáp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Người vận hành tự đọc log, ảnh chụp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Jupyter chatbox hỏi đáp trực tiếp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Kết quả OCR khó hiểu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Text dài, nhiễu, thiếu ngữ cảnh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AI tóm tắt OCR, chỉ điểm đáng chú ý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Rule matched thiếu giải thích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Owner không biết vì sao bị cảnh báo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AI giải thích rule, keyword, mức độ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Demo workshop cần nhanh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Xây web frontend tốn thời gian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Jupyter Notebook đủ dùng để demo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Nhiều AI provider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Khó hard code từng provider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OpenCode CLI làm lớp tích hợp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74461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5E02AED-1D86-4AC5-90B9-1749E65F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28090"/>
                </a:solidFill>
                <a:latin typeface="Arial"/>
                <a:ea typeface="Arial"/>
                <a:cs typeface="Arial"/>
              </a:rPr>
              <a:t>§4  STAKEHOLDERS &amp; PERSONAS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069C2E9-E0B8-4342-BAC3-396201FE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Ai cần gì từ phần mở rộng này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518C909-4E87-4589-8AD4-F2F91E7E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2040"/>
            <a:ext cx="5486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AI08 Workshop  •  Screen Watcher Pro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36EE0C8-A510-45EB-ABCD-FDFEAF6D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92040"/>
            <a:ext cx="320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13" name="Table 0"/>
          <p:cNvGraphicFramePr/>
          <p:nvPr/>
        </p:nvGraphicFramePr>
        <p:xfrm>
          <a:off xmlns:a="http://schemas.openxmlformats.org/drawingml/2006/main" x="457200" y="1234440"/>
          <a:ext xmlns:a="http://schemas.openxmlformats.org/drawingml/2006/main" cx="82296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20240"/>
                <a:gridCol w="3017520"/>
                <a:gridCol w="329184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Stakeholder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Vai trò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Nhu cầu chính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Product Owner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Định hướng, trình bày workshop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Câu chuyện sản phẩm rõ, demo được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Business Analyst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Chuyển pain point thành requirement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User story, acceptance criteria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Developer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Xây API, adapter, client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Kiến trúc, API contract, module design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QA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Kiểm thử luồng API và chatbot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Test case, mock data, expected response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Operation Engineer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Người dùng cuối nội bộ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Hỏi nhanh trạng thái, hành động xử lý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C73B537-44E5-407F-AF86-024446AD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768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Persona chính: </a:t>
            </a:r>
            <a:r>
              <a:rPr sz="1150">
                <a:solidFill>
                  <a:srgbClr val="1E293B"/>
                </a:solidFill>
                <a:latin typeface="Arial"/>
                <a:ea typeface="Arial"/>
                <a:cs typeface="Arial"/>
              </a:rPr>
              <a:t>Operation/Support Engineer theo dõi dashboard legacy — không muốn đọc log dài, cần hỏi hệ thống bằng câu đơn giản.</a:t>
            </a:r>
          </a:p>
        </p:txBody>
      </p:sp>
    </p:spTree>
    <p:extLst>
      <p:ext uri="{BB962C8B-B14F-4D97-AF65-F5344CB8AC3E}">
        <p14:creationId xmlns:p14="http://schemas.microsoft.com/office/powerpoint/2010/main" val="18833616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FCC25FA-661F-40DA-8278-7408061C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28090"/>
                </a:solidFill>
                <a:latin typeface="Arial"/>
                <a:ea typeface="Arial"/>
                <a:cs typeface="Arial"/>
              </a:rPr>
              <a:t>§6  BUSINESS FLOW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5696EDC-89B4-4EE7-9E3E-460BB4F2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As-Is thụ động → To-Be tương tác chủ động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6C35F7F-947E-438A-BA89-28DDDBFE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2040"/>
            <a:ext cx="5486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AI08 Workshop  •  Screen Watcher Pro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14EC515-DF47-470E-825F-EEC61465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92040"/>
            <a:ext cx="320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D846655-CF00-416D-8039-0B246F0D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AS IS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DA380F4-FD73-4E9F-A993-7684A715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3931920" cy="438912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6172F7-1106-4E47-9710-959ABF34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3931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Scheduler gọi CLI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C1E0E1D-36E0-40FA-A16B-3F12520A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5688"/>
            <a:ext cx="3931920" cy="438912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58C4DFC-3FCE-4899-B042-F78FA1BA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5688"/>
            <a:ext cx="3931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Chụp màn hình → OCR → Rule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52158FB-3EFF-4C4C-B9F1-FFBD5E86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2616"/>
            <a:ext cx="3931920" cy="438912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2AFFA79-60B7-4E5A-B1F0-E0B08E99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2616"/>
            <a:ext cx="3931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Match → gửi email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E3C2417-104D-4247-B286-D902367B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544"/>
            <a:ext cx="3931920" cy="438912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413BC76-129C-4B0B-8BD0-BC492667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544"/>
            <a:ext cx="3931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Owner tự mở screenshot/log để phân tích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8E93783-7821-40B3-9F7E-C8C5C29A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18872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28090"/>
                </a:solidFill>
                <a:latin typeface="Arial"/>
                <a:ea typeface="Arial"/>
                <a:cs typeface="Arial"/>
              </a:rPr>
              <a:t>TO BE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3FFD08A-2C8D-48C9-A302-3E6FDE36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508760"/>
            <a:ext cx="3931920" cy="438912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E2761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CA893DA-7872-4428-A8D1-18BBA88F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508760"/>
            <a:ext cx="3931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API/Scheduler trigger Tool Watcher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1BEC725-16A3-473D-A59C-A67B8822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075688"/>
            <a:ext cx="3931920" cy="438912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E2761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F17BDD4-435B-4BB0-A0E1-6CFC3CDF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075688"/>
            <a:ext cx="3931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Tạo OCR, rule result, audit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834663D-E042-4FC8-952D-F6898699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642616"/>
            <a:ext cx="3931920" cy="438912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E2761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980CB24-2441-4F81-BBF3-F7315F33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642616"/>
            <a:ext cx="3931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 hỏi qua Jupyter chatbox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9F72F8D-FCB0-495F-A478-696C7D81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209544"/>
            <a:ext cx="3931920" cy="438912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28090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AA6C953-579F-4AFD-822D-55F288DA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209544"/>
            <a:ext cx="3931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 gắn context → gọi OpenCode CLI → provider → trả lời có ngữ cảnh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F640315-AA73-48BD-9758-081279E8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764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Cải thiện: </a:t>
            </a:r>
            <a:r>
              <a:rPr sz="1150">
                <a:solidFill>
                  <a:srgbClr val="1E293B"/>
                </a:solidFill>
                <a:latin typeface="Arial"/>
                <a:ea typeface="Arial"/>
                <a:cs typeface="Arial"/>
              </a:rPr>
              <a:t>từ nhận email thụ động → hỏi đáp chủ động; từ đọc log thủ công → AI hỗ trợ tóm tắt, giải thích.</a:t>
            </a:r>
          </a:p>
        </p:txBody>
      </p:sp>
    </p:spTree>
    <p:extLst>
      <p:ext uri="{BB962C8B-B14F-4D97-AF65-F5344CB8AC3E}">
        <p14:creationId xmlns:p14="http://schemas.microsoft.com/office/powerpoint/2010/main" val="18821902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4741BBF-F928-4707-A4F2-AD9011E5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28090"/>
                </a:solidFill>
                <a:latin typeface="Arial"/>
                <a:ea typeface="Arial"/>
                <a:cs typeface="Arial"/>
              </a:rPr>
              <a:t>§8  SOLUTION ARCHITECTURE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02E64E2-0F3A-4429-BF4E-288A35F6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Container view — luồng xử lý qua OpenCode CLI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B08F8E0-37E2-4A6E-A4F3-AEDD13D5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2040"/>
            <a:ext cx="5486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AI08 Workshop  •  Screen Watcher Pro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22D0D90-7A13-4040-81B4-0AC69AC8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92040"/>
            <a:ext cx="320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415B172-9906-451A-B52C-1D21AF20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4480"/>
            <a:ext cx="141732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4471367-F828-4B1D-80F3-2756B6F1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4480"/>
            <a:ext cx="1417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Jupyter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Chatbox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(ipywidgets)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A11D243-8830-4DA9-9024-2B11FEDC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9431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64748B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340CDB3-3E12-4320-B844-3D55BB1B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554480"/>
            <a:ext cx="160020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E2761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2B05DC0-7733-4572-B509-94542DDD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554480"/>
            <a:ext cx="16002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Server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 /api/chat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89376A1-098B-4C3D-84D8-061356AD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9431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64748B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B745350-2F94-4CE8-9D9F-E1D9E649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54480"/>
            <a:ext cx="169164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E2761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BA041E9-E77A-4F6A-9C6B-F70A622F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54480"/>
            <a:ext cx="1691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Chat Orchestrator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 Watcher Context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 Prompt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A940CE7-0445-48AA-8F22-4B436E63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9431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64748B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59D1821-AEE1-40A9-BF0D-6FDEECDB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051560"/>
            <a:ext cx="1874520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E880CC0-BC08-4F11-A3FC-CDC0931B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051560"/>
            <a:ext cx="18745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engine: sdk</a:t>
            </a:r>
          </a:p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OpenAI-compatible SDK</a:t>
            </a:r>
          </a:p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(+ DB tools)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87FAF67-021B-413A-ABD5-C03FD6DD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920240"/>
            <a:ext cx="1874520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28090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B3D0864-9F69-443A-80C1-AF3DD2EF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920240"/>
            <a:ext cx="18745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engine: opencode</a:t>
            </a:r>
          </a:p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opencode run --model</a:t>
            </a:r>
          </a:p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subprocess + timeout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DE08CEE-4639-4E3E-9CAC-3989423D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063240"/>
            <a:ext cx="187452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CADCFC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B1E43B3-3FF7-4ACF-8BAD-DEA41285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063240"/>
            <a:ext cx="1874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Llama / Azure OpenAI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OpenRouter / Ollama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47BE7E7-A80D-4128-8652-D9807179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60604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64748B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9E1D014-5FFC-4D91-9E93-8DCD1868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63240"/>
            <a:ext cx="169164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CADCFC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3113CFC-BB85-4599-9AC4-677659BC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63240"/>
            <a:ext cx="1691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SQLite: OCR text,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rules, email status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F714812-869D-4730-9533-27CAB8E2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331720"/>
            <a:ext cx="0" cy="7315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64748B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32E7561-6582-4C63-BF75-13861E0F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Local machine: </a:t>
            </a:r>
            <a:r>
              <a:rPr sz="1200">
                <a:solidFill>
                  <a:srgbClr val="1E293B"/>
                </a:solidFill>
                <a:latin typeface="Arial"/>
                <a:ea typeface="Arial"/>
                <a:cs typeface="Arial"/>
              </a:rPr>
              <a:t>API Server http://127.0.0.1:8000, Jupyter http://127.0.0.1:8888, OpenCode CLI trong PATH.</a:t>
            </a:r>
          </a:p>
        </p:txBody>
      </p:sp>
    </p:spTree>
    <p:extLst>
      <p:ext uri="{BB962C8B-B14F-4D97-AF65-F5344CB8AC3E}">
        <p14:creationId xmlns:p14="http://schemas.microsoft.com/office/powerpoint/2010/main" val="3535900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ACBEC09-C3C5-4E75-9EBF-3C8513CD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28090"/>
                </a:solidFill>
                <a:latin typeface="Arial"/>
                <a:ea typeface="Arial"/>
                <a:cs typeface="Arial"/>
              </a:rPr>
              <a:t>§9  COMPONENT DESIGN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BF2F05-0C46-46F9-AE03-8B555DF1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Module chính và trách nhiệm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58B6CB7-693B-4229-BDB3-32E64F7D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2040"/>
            <a:ext cx="5486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AI08 Workshop  •  Screen Watcher Pro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E93808E-462C-45EA-806D-6CD5C9A6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92040"/>
            <a:ext cx="320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11" name="Table 0"/>
          <p:cNvGraphicFramePr/>
          <p:nvPr/>
        </p:nvGraphicFramePr>
        <p:xfrm>
          <a:off xmlns:a="http://schemas.openxmlformats.org/drawingml/2006/main" x="457200" y="1234440"/>
          <a:ext xmlns:a="http://schemas.openxmlformats.org/drawingml/2006/main" cx="82296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68880"/>
                <a:gridCol w="5760720"/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Vai trò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chat_server.py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Khởi động FastAPI app, mount routes (/health, /chat, /watcher/*)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chat_agent.py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Chat Orchestrator — build prompt, gọi adapter, format reply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opencode_adapter.py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OpenCode CLI Adapter — subprocess, timeout, stderr/stdout parser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provider_config.py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Quản lý provider Llama/Azure/OpenRouter/Local — đọc .env động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watcher_context_service.py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Đọc latest watcher result, chuẩn hóa context cho prompt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conversation_store.py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Lưu lịch sử chat theo session (SQLite)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chatbox.py + chatbox.ipynb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Jupyter client — chỉ HTTP + hiển thị, không có logic AI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61154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60293F-1B4A-467A-A5C8-373D6775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28090"/>
                </a:solidFill>
                <a:latin typeface="Arial"/>
                <a:ea typeface="Arial"/>
                <a:cs typeface="Arial"/>
              </a:rPr>
              <a:t>§10  API SPECIFICATION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A976461-4E5A-4658-B30B-2923BEB2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Bộ endpoint chính và mẫu request/response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BE6387F-FC42-41CD-B450-B65AEF77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2040"/>
            <a:ext cx="5486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AI08 Workshop  •  Screen Watcher Pro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001727F-A8E4-4322-B9C3-44A3D050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92040"/>
            <a:ext cx="320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14" name="Table 0"/>
          <p:cNvGraphicFramePr/>
          <p:nvPr/>
        </p:nvGraphicFramePr>
        <p:xfrm>
          <a:off xmlns:a="http://schemas.openxmlformats.org/drawingml/2006/main" x="457200" y="1188720"/>
          <a:ext xmlns:a="http://schemas.openxmlformats.org/drawingml/2006/main" cx="82296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05840"/>
                <a:gridCol w="3291840"/>
                <a:gridCol w="393192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Endpoint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Mục đích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/health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Kiểm tra server còn hoạt động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POST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/api/chat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Nhận message từ Jupyter, trả lời bằng AI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POST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/api/watcher/executions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Trigger watcher thủ công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/api/watcher/executions/latest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Lấy kết quả watcher gần nhất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/api/watcher/executions/{id}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Lấy audit artifact theo execution id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7F23B1E-DE04-4ECD-B1CC-1CF4C6A7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8229600" cy="123444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162050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5BE92F6-D3DA-4657-A192-8771A239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78638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Arial"/>
                <a:ea typeface="Arial"/>
                <a:cs typeface="Arial"/>
              </a:rPr>
              <a:t>POST /chat — response mẫu:  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FE6D8"/>
                </a:solidFill>
                <a:latin typeface="Consolas"/>
                <a:ea typeface="Consolas"/>
                <a:cs typeface="Consolas"/>
              </a:rPr>
              <a:t>{"reply": "Watcher gần nhất phát hiện rule daily_sync_failed...", "model": "azure/gpt-4o-mini", "provider": "azure_openai", "status": "success", "execution_context_used": true}</a:t>
            </a:r>
          </a:p>
        </p:txBody>
      </p:sp>
    </p:spTree>
    <p:extLst>
      <p:ext uri="{BB962C8B-B14F-4D97-AF65-F5344CB8AC3E}">
        <p14:creationId xmlns:p14="http://schemas.microsoft.com/office/powerpoint/2010/main" val="6411184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010B179-D357-425D-84EA-F4F24DAE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28090"/>
                </a:solidFill>
                <a:latin typeface="Arial"/>
                <a:ea typeface="Arial"/>
                <a:cs typeface="Arial"/>
              </a:rPr>
              <a:t>§11  AI INTEGRATION — OPENCODE CLI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262B3DF-6A0D-4E11-969A-569C0778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Lớp trung gian giữa server và AI provider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B73B3F-5BE4-4D43-8E4C-D7E81602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2040"/>
            <a:ext cx="5486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AI08 Workshop  •  Screen Watcher Pro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E17C984-03F3-4CB3-B226-61E356EB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92040"/>
            <a:ext cx="320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96E92ED-FB25-4AC7-AB2C-9B54929A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39319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Trách nhiệm Adapter (§11.1): </a:t>
            </a:r>
          </a:p>
          <a:p xmlns:a="http://schemas.openxmlformats.org/drawingml/2006/main">
            <a:pPr marL="342900" indent="-342900">
              <a:buChar char="•"/>
            </a:pPr>
            <a:r>
              <a:rPr sz="1100">
                <a:solidFill>
                  <a:srgbClr val="1E293B"/>
                </a:solidFill>
                <a:latin typeface="Arial"/>
                <a:ea typeface="Arial"/>
                <a:cs typeface="Arial"/>
              </a:rPr>
              <a:t>Nhận prompt từ Chat Orchestrator</a:t>
            </a:r>
          </a:p>
          <a:p xmlns:a="http://schemas.openxmlformats.org/drawingml/2006/main">
            <a:pPr marL="342900" indent="-342900">
              <a:buChar char="•"/>
            </a:pPr>
            <a:r>
              <a:rPr sz="1100">
                <a:solidFill>
                  <a:srgbClr val="1E293B"/>
                </a:solidFill>
                <a:latin typeface="Arial"/>
                <a:ea typeface="Arial"/>
                <a:cs typeface="Arial"/>
              </a:rPr>
              <a:t>Tạo command line theo provider/model</a:t>
            </a:r>
          </a:p>
          <a:p xmlns:a="http://schemas.openxmlformats.org/drawingml/2006/main">
            <a:pPr marL="342900" indent="-342900">
              <a:buChar char="•"/>
            </a:pPr>
            <a:r>
              <a:rPr sz="1100">
                <a:solidFill>
                  <a:srgbClr val="1E293B"/>
                </a:solidFill>
                <a:latin typeface="Arial"/>
                <a:ea typeface="Arial"/>
                <a:cs typeface="Arial"/>
              </a:rPr>
              <a:t>Chạy subprocess với working directory an toàn</a:t>
            </a:r>
          </a:p>
          <a:p xmlns:a="http://schemas.openxmlformats.org/drawingml/2006/main">
            <a:pPr marL="342900" indent="-342900">
              <a:buChar char="•"/>
            </a:pPr>
            <a:r>
              <a:rPr sz="1100">
                <a:solidFill>
                  <a:srgbClr val="1E293B"/>
                </a:solidFill>
                <a:latin typeface="Arial"/>
                <a:ea typeface="Arial"/>
                <a:cs typeface="Arial"/>
              </a:rPr>
              <a:t>Áp timeout, thu stdout/stderr/exit code</a:t>
            </a:r>
          </a:p>
          <a:p xmlns:a="http://schemas.openxmlformats.org/drawingml/2006/main">
            <a:pPr marL="342900" indent="-342900">
              <a:buChar char="•"/>
            </a:pPr>
            <a:r>
              <a:rPr sz="1100">
                <a:solidFill>
                  <a:srgbClr val="1E293B"/>
                </a:solidFill>
                <a:latin typeface="Arial"/>
                <a:ea typeface="Arial"/>
                <a:cs typeface="Arial"/>
              </a:rPr>
              <a:t>Chuẩn hóa thành AIResponse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FDAD13E-357E-4253-A35D-3CE539EC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188720"/>
            <a:ext cx="4023360" cy="96012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205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D4D491A-EEE4-4AFB-BA80-CFDA9E3D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280160"/>
            <a:ext cx="3657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CADCFC"/>
                </a:solidFill>
                <a:latin typeface="Arial"/>
                <a:ea typeface="Arial"/>
                <a:cs typeface="Arial"/>
              </a:rPr>
              <a:t>§11.2 Command Execution Pattern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FE6D8"/>
                </a:solidFill>
                <a:latin typeface="Consolas"/>
                <a:ea typeface="Consolas"/>
                <a:cs typeface="Consolas"/>
              </a:rPr>
              <a:t>opencode run --model azure/gpt-4o-mini "&lt;prompt&gt;"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FE6D8"/>
                </a:solidFill>
                <a:latin typeface="Consolas"/>
                <a:ea typeface="Consolas"/>
                <a:cs typeface="Consolas"/>
              </a:rPr>
              <a:t>opencode run --model llama/local-model "&lt;prompt&gt;"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04B3447-B9E9-4397-B27E-1E5173E7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286000"/>
            <a:ext cx="4023360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416989D-F063-40E8-8B58-AFE85BA5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77440"/>
            <a:ext cx="3657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§11.3 Prompt Composition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Arial"/>
                <a:ea typeface="Arial"/>
                <a:cs typeface="Arial"/>
              </a:rPr>
              <a:t>System role + Watcher context (OCR, matched_rules, execution_time, email_status) + User question + Instruction</a:t>
            </a:r>
          </a:p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028090"/>
                </a:solidFill>
                <a:latin typeface="Arial"/>
                <a:ea typeface="Arial"/>
                <a:cs typeface="Arial"/>
              </a:rPr>
              <a:t>“Nếu dữ liệu không đủ, nói rõ là chưa đủ dữ liệu.”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7088BA7-E5E9-4462-AE5B-69420F1E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28090"/>
                </a:solidFill>
                <a:latin typeface="Arial"/>
                <a:ea typeface="Arial"/>
                <a:cs typeface="Arial"/>
              </a:rPr>
              <a:t>Giá trị: </a:t>
            </a:r>
            <a:r>
              <a:rPr sz="1200">
                <a:solidFill>
                  <a:srgbClr val="1E293B"/>
                </a:solidFill>
                <a:latin typeface="Arial"/>
                <a:ea typeface="Arial"/>
                <a:cs typeface="Arial"/>
              </a:rPr>
              <a:t>đổi Llama → Azure OpenAI chỉ cần sửa YAML/env; Chat Orchestrator giữ nguyên (FR04).</a:t>
            </a:r>
          </a:p>
        </p:txBody>
      </p:sp>
    </p:spTree>
    <p:extLst>
      <p:ext uri="{BB962C8B-B14F-4D97-AF65-F5344CB8AC3E}">
        <p14:creationId xmlns:p14="http://schemas.microsoft.com/office/powerpoint/2010/main" val="19972936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862D1DB-1E32-4E69-8958-2DB6DF0E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28090"/>
                </a:solidFill>
                <a:latin typeface="Arial"/>
                <a:ea typeface="Arial"/>
                <a:cs typeface="Arial"/>
              </a:rPr>
              <a:t>§12  JUPYTER NOTEBOOK CLIENT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3209A66-765F-45A3-9DD9-5A25CACC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Client local — chỉ HTTP + hiển thị, không có logic AI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4441C8B-06A1-47A0-AACD-F8B501C5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2040"/>
            <a:ext cx="5486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AI08 Workshop  •  Screen Watcher Pro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13D338D-9BC9-4709-898C-A693FDE5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92040"/>
            <a:ext cx="320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17412C-82EA-4E60-85FA-9775E99C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329184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Client Responsibilities (§12.1)</a:t>
            </a:r>
          </a:p>
          <a:p xmlns:a="http://schemas.openxmlformats.org/drawingml/2006/main">
            <a:pPr marL="342900" indent="-342900">
              <a:buChar char="•"/>
            </a:pPr>
            <a:r>
              <a:rPr sz="1100">
                <a:solidFill>
                  <a:srgbClr val="1E293B"/>
                </a:solidFill>
                <a:latin typeface="Arial"/>
                <a:ea typeface="Arial"/>
                <a:cs typeface="Arial"/>
              </a:rPr>
              <a:t>Hiển thị chat history</a:t>
            </a:r>
          </a:p>
          <a:p xmlns:a="http://schemas.openxmlformats.org/drawingml/2006/main">
            <a:pPr marL="342900" indent="-342900">
              <a:buChar char="•"/>
            </a:pPr>
            <a:r>
              <a:rPr sz="1100">
                <a:solidFill>
                  <a:srgbClr val="1E293B"/>
                </a:solidFill>
                <a:latin typeface="Arial"/>
                <a:ea typeface="Arial"/>
                <a:cs typeface="Arial"/>
              </a:rPr>
              <a:t>Nhận message qua input/ipywidgets</a:t>
            </a:r>
          </a:p>
          <a:p xmlns:a="http://schemas.openxmlformats.org/drawingml/2006/main">
            <a:pPr marL="342900" indent="-342900">
              <a:buChar char="•"/>
            </a:pPr>
            <a:r>
              <a:rPr sz="1100">
                <a:solidFill>
                  <a:srgbClr val="1E293B"/>
                </a:solidFill>
                <a:latin typeface="Arial"/>
                <a:ea typeface="Arial"/>
                <a:cs typeface="Arial"/>
              </a:rPr>
              <a:t>Gửi POST /chat</a:t>
            </a:r>
          </a:p>
          <a:p xmlns:a="http://schemas.openxmlformats.org/drawingml/2006/main">
            <a:pPr marL="342900" indent="-342900">
              <a:buChar char="•"/>
            </a:pPr>
            <a:r>
              <a:rPr sz="1100">
                <a:solidFill>
                  <a:srgbClr val="1E293B"/>
                </a:solidFill>
                <a:latin typeface="Arial"/>
                <a:ea typeface="Arial"/>
                <a:cs typeface="Arial"/>
              </a:rPr>
              <a:t>Hiển thị reply từ server</a:t>
            </a:r>
          </a:p>
          <a:p xmlns:a="http://schemas.openxmlformats.org/drawingml/2006/main">
            <a:pPr marL="342900" indent="-342900">
              <a:buChar char="•"/>
            </a:pPr>
            <a:r>
              <a:rPr sz="1100">
                <a:solidFill>
                  <a:srgbClr val="1E293B"/>
                </a:solidFill>
                <a:latin typeface="Arial"/>
                <a:ea typeface="Arial"/>
                <a:cs typeface="Arial"/>
              </a:rPr>
              <a:t>Hiển thị lỗi kết nối/API rõ ràng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9DF8D82-1F6A-4729-B6DA-8EA0594D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1188720"/>
            <a:ext cx="4754880" cy="2606040"/>
          </a:xfrm>
          <a:prstGeom xmlns:a="http://schemas.openxmlformats.org/drawingml/2006/main" prst="roundRect">
            <a:avLst>
              <a:gd name="adj" fmla="val 2456"/>
            </a:avLst>
          </a:prstGeom>
          <a:solidFill xmlns:a="http://schemas.openxmlformats.org/drawingml/2006/main">
            <a:srgbClr val="16205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4DD6F3E-B106-4CA0-AAF8-B87186E1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298448"/>
            <a:ext cx="448056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FE6D8"/>
                </a:solidFill>
                <a:latin typeface="Consolas"/>
                <a:ea typeface="Consolas"/>
                <a:cs typeface="Consolas"/>
              </a:rPr>
              <a:t>def send_message(message):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FE6D8"/>
                </a:solidFill>
                <a:latin typeface="Consolas"/>
                <a:ea typeface="Consolas"/>
                <a:cs typeface="Consolas"/>
              </a:rPr>
              <a:t>    payload = {"session_id": ..., "message": message,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FE6D8"/>
                </a:solidFill>
                <a:latin typeface="Consolas"/>
                <a:ea typeface="Consolas"/>
                <a:cs typeface="Consolas"/>
              </a:rPr>
              <a:t>               "include_latest_watcher_context": True}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FE6D8"/>
                </a:solidFill>
                <a:latin typeface="Consolas"/>
                <a:ea typeface="Consolas"/>
                <a:cs typeface="Consolas"/>
              </a:rPr>
              <a:t>    response = requests.post(API_URL, json=payload,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FE6D8"/>
                </a:solidFill>
                <a:latin typeface="Consolas"/>
                <a:ea typeface="Consolas"/>
                <a:cs typeface="Consolas"/>
              </a:rPr>
              <a:t>                             timeout=180)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FE6D8"/>
                </a:solidFill>
                <a:latin typeface="Consolas"/>
                <a:ea typeface="Consolas"/>
                <a:cs typeface="Consolas"/>
              </a:rPr>
              <a:t>    return response.json()["reply"]</a:t>
            </a:r>
          </a:p>
          <a:p xmlns:a="http://schemas.openxmlformats.org/drawingml/2006/main">
            <a:pPr marL="0" indent="0">
              <a:buNone/>
            </a:pPr>
            <a:r>
              <a:rPr sz="50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8FA3D9"/>
                </a:solidFill>
                <a:latin typeface="Consolas"/>
                <a:ea typeface="Consolas"/>
                <a:cs typeface="Consolas"/>
              </a:rPr>
              <a:t># ipywidgets: Output + Text + Button("Gửi")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8933308-7C86-4652-A754-BC00EE44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764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Phù hợp workshop vì: </a:t>
            </a:r>
            <a:r>
              <a:rPr sz="1200">
                <a:solidFill>
                  <a:srgbClr val="1E293B"/>
                </a:solidFill>
                <a:latin typeface="Arial"/>
                <a:ea typeface="Arial"/>
                <a:cs typeface="Arial"/>
              </a:rPr>
              <a:t>giảm chi phí frontend, dễ trình diễn, chỉnh sửa ngay trong lúc demo.</a:t>
            </a:r>
          </a:p>
        </p:txBody>
      </p:sp>
    </p:spTree>
    <p:extLst>
      <p:ext uri="{BB962C8B-B14F-4D97-AF65-F5344CB8AC3E}">
        <p14:creationId xmlns:p14="http://schemas.microsoft.com/office/powerpoint/2010/main" val="7552785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DBE07F6-83D9-47BF-8BB9-23E27389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28090"/>
                </a:solidFill>
                <a:latin typeface="Arial"/>
                <a:ea typeface="Arial"/>
                <a:cs typeface="Arial"/>
              </a:rPr>
              <a:t>§13–14  FUNCTIONAL &amp; NON-FUNCTIONAL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2B3DF03-04DF-4189-84B8-98C7253A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Requirement chính và acceptance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023587-5DF8-4F66-8AD5-6F23515F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2040"/>
            <a:ext cx="5486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AI08 Workshop  •  Screen Watcher Pro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9216D33-6D4F-49BF-A43B-1008BD89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92040"/>
            <a:ext cx="320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1" name="Table 0"/>
          <p:cNvGraphicFramePr/>
          <p:nvPr/>
        </p:nvGraphicFramePr>
        <p:xfrm>
          <a:off xmlns:a="http://schemas.openxmlformats.org/drawingml/2006/main" x="457200" y="1188720"/>
          <a:ext xmlns:a="http://schemas.openxmlformats.org/drawingml/2006/main" cx="82296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88720"/>
                <a:gridCol w="5669280"/>
                <a:gridCol w="1371600"/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Priority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FR01–02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/health và /chat hoạt động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Must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FR03–04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Gọi OpenCode CLI, đổi provider bằng config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Must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FR05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Bổ sung latest watcher context vào prompt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Must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FR06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Jupyter Notebook chatbox client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Must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FR07–08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watcher/latest-result và trigger thủ công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Should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FR09–10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Conversation store, error response chuẩn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Could / Must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NFR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Timeout 120-180s • bind 127.0.0.1 • key qua env • YAML config driven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7025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076447-F462-4DED-8072-CE3F1E8E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28090"/>
                </a:solidFill>
                <a:latin typeface="Arial"/>
                <a:ea typeface="Arial"/>
                <a:cs typeface="Arial"/>
              </a:rPr>
              <a:t>§16  SECURITY &amp; GOVERNANCE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017DB35-2989-4AA2-84CD-8D45E261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Nguyên tắc bảo mật cho MVP local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504F8F-F1BF-414E-8BC9-10DC461D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2040"/>
            <a:ext cx="5486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AI08 Workshop  •  Screen Watcher Pro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4870395-7912-478A-B448-F1C86D9E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92040"/>
            <a:ext cx="320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E35AC5A-2ABE-430E-929E-F19916E7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3931920" cy="713232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D1418D3-E402-4305-AC69-F27010CC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34440"/>
            <a:ext cx="36576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Arial"/>
                <a:ea typeface="Arial"/>
                <a:cs typeface="Arial"/>
              </a:rPr>
              <a:t>Server mặc định chỉ bind 127.0.0.1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E55696C-E0A1-4AD3-8EDF-A7FD9332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234440"/>
            <a:ext cx="3931920" cy="713232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AC02A0A-F892-4352-BD53-EA17C9D3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234440"/>
            <a:ext cx="36576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Arial"/>
                <a:ea typeface="Arial"/>
                <a:cs typeface="Arial"/>
              </a:rPr>
              <a:t>Bind 0.0.0.0 → bắt buộc API token hoặc reverse proxy có auth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94599F7-841E-46F0-9A42-D26CB63D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3120"/>
            <a:ext cx="3931920" cy="713232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BDABA6-D9D4-49A2-9FB5-1F9DB97A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03120"/>
            <a:ext cx="36576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Arial"/>
                <a:ea typeface="Arial"/>
                <a:cs typeface="Arial"/>
              </a:rPr>
              <a:t>Không ghi API key/SMTP password/bearer token vào log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66FD3CD-D8B5-41F3-9D79-B548EC9E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103120"/>
            <a:ext cx="3931920" cy="713232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02744AA-43F3-456C-BE8D-E2CE5F98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03120"/>
            <a:ext cx="36576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Arial"/>
                <a:ea typeface="Arial"/>
                <a:cs typeface="Arial"/>
              </a:rPr>
              <a:t>Không đưa toàn bộ screenshot/OCR nhạy cảm vào prompt nếu không cần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499590F-AAC9-439B-8E76-4439079F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3931920" cy="713232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7C712F8-57C5-41D4-865E-D88604EE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71800"/>
            <a:ext cx="36576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Arial"/>
                <a:ea typeface="Arial"/>
                <a:cs typeface="Arial"/>
              </a:rPr>
              <a:t>max_context_chars giới hạn dữ liệu gửi sang AI provider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A8422D3-C2C4-4D24-BD9D-C40AAB0E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971800"/>
            <a:ext cx="3931920" cy="713232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EDC96EC-E97D-4112-8876-02A86E15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71800"/>
            <a:ext cx="36576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Arial"/>
                <a:ea typeface="Arial"/>
                <a:cs typeface="Arial"/>
              </a:rPr>
              <a:t>Audit flag để biết AI đã dùng dữ liệu watcher nào khi trả lời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EA715CE-2911-4C67-8056-6C1F04C2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1920"/>
            <a:ext cx="8229600" cy="6858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162050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1F4D426-74D3-46D0-BE56-A7AB0CEC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931920"/>
            <a:ext cx="7955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FE6D8"/>
                </a:solidFill>
                <a:latin typeface="Consolas"/>
                <a:ea typeface="Consolas"/>
                <a:cs typeface="Consolas"/>
              </a:rPr>
              <a:t>server: host 127.0.0.1, port 8000, require_api_token: false   |   security: mask_sensitive_log: true, max_context_chars: 6000</a:t>
            </a:r>
          </a:p>
        </p:txBody>
      </p:sp>
    </p:spTree>
    <p:extLst>
      <p:ext uri="{BB962C8B-B14F-4D97-AF65-F5344CB8AC3E}">
        <p14:creationId xmlns:p14="http://schemas.microsoft.com/office/powerpoint/2010/main" val="1489769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38F0E0C-7D51-4654-AE1C-5D2009FE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28090"/>
                </a:solidFill>
                <a:latin typeface="Arial"/>
                <a:ea typeface="Arial"/>
                <a:cs typeface="Arial"/>
              </a:rPr>
              <a:t>EVIDENCE — SERVER CHẠY THẬT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1A6017-60E9-4842-80C9-5F4EDFCF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Swagger UI /docs và GET /health → 200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B318A4F-0F99-480E-972D-EE2E5E76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2040"/>
            <a:ext cx="5486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AI08 Workshop  •  Screen Watcher Pro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C6FADF4-C534-4FEE-8CC8-599D2F24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92040"/>
            <a:ext cx="320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c1e9ffe864e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188720"/>
            <a:ext cx="5120640" cy="3474720"/>
          </a:xfrm>
          <a:prstGeom xmlns:a="http://schemas.openxmlformats.org/drawingml/2006/main" prst="rect">
            <a:avLst/>
          </a:prstGeom>
        </p:spPr>
      </p:pic>
      <p:pic>
        <p:nvPicPr>
          <p:cNvPr id="1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a37a7aaa1141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06440" y="1417320"/>
            <a:ext cx="3063240" cy="228600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4985F8D-0395-4100-A30A-0BE2144F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1188720"/>
            <a:ext cx="2880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28090"/>
                </a:solidFill>
                <a:latin typeface="Arial"/>
                <a:ea typeface="Arial"/>
                <a:cs typeface="Arial"/>
              </a:rPr>
              <a:t>GET /health → 200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0D0F995-30D7-440C-9F98-36FB10CD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1920240"/>
            <a:ext cx="3017520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Swagger tags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Arial"/>
                <a:ea typeface="Arial"/>
                <a:cs typeface="Arial"/>
              </a:rPr>
              <a:t>system, auth (JWT), user, admin, watcher, ai-chat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Bao phủ spec §10:</a:t>
            </a:r>
          </a:p>
          <a:p xmlns:a="http://schemas.openxmlformats.org/drawingml/2006/main">
            <a:pPr marL="342900" indent="-342900">
              <a:buChar char="•"/>
            </a:pPr>
            <a:r>
              <a:rPr sz="1200">
                <a:solidFill>
                  <a:srgbClr val="1E293B"/>
                </a:solidFill>
                <a:latin typeface="Arial"/>
                <a:ea typeface="Arial"/>
                <a:cs typeface="Arial"/>
              </a:rPr>
              <a:t>/health (FR01)</a:t>
            </a:r>
          </a:p>
          <a:p xmlns:a="http://schemas.openxmlformats.org/drawingml/2006/main">
            <a:pPr marL="342900" indent="-342900">
              <a:buChar char="•"/>
            </a:pPr>
            <a:r>
              <a:rPr sz="1200">
                <a:solidFill>
                  <a:srgbClr val="1E293B"/>
                </a:solidFill>
                <a:latin typeface="Arial"/>
                <a:ea typeface="Arial"/>
                <a:cs typeface="Arial"/>
              </a:rPr>
              <a:t>/api/chat (FR02)</a:t>
            </a:r>
          </a:p>
          <a:p xmlns:a="http://schemas.openxmlformats.org/drawingml/2006/main">
            <a:pPr marL="342900" indent="-342900">
              <a:buChar char="•"/>
            </a:pPr>
            <a:r>
              <a:rPr sz="1200">
                <a:solidFill>
                  <a:srgbClr val="1E293B"/>
                </a:solidFill>
                <a:latin typeface="Arial"/>
                <a:ea typeface="Arial"/>
                <a:cs typeface="Arial"/>
              </a:rPr>
              <a:t>/api/watcher/executions/latest (FR07)</a:t>
            </a:r>
          </a:p>
          <a:p xmlns:a="http://schemas.openxmlformats.org/drawingml/2006/main">
            <a:pPr marL="342900" indent="-342900">
              <a:buChar char="•"/>
            </a:pPr>
            <a:r>
              <a:rPr sz="1200">
                <a:solidFill>
                  <a:srgbClr val="1E293B"/>
                </a:solidFill>
                <a:latin typeface="Arial"/>
                <a:ea typeface="Arial"/>
                <a:cs typeface="Arial"/>
              </a:rPr>
              <a:t>POST /api/watcher/executions (FR08)</a:t>
            </a:r>
          </a:p>
          <a:p xmlns:a="http://schemas.openxmlformats.org/drawingml/2006/main">
            <a:pPr marL="342900" indent="-342900">
              <a:buChar char="•"/>
            </a:pPr>
            <a:r>
              <a:rPr sz="1200">
                <a:solidFill>
                  <a:srgbClr val="1E293B"/>
                </a:solidFill>
                <a:latin typeface="Arial"/>
                <a:ea typeface="Arial"/>
                <a:cs typeface="Arial"/>
              </a:rPr>
              <a:t>chat sessions — conversation store (FR09)</a:t>
            </a:r>
          </a:p>
        </p:txBody>
      </p:sp>
    </p:spTree>
    <p:extLst>
      <p:ext uri="{BB962C8B-B14F-4D97-AF65-F5344CB8AC3E}">
        <p14:creationId xmlns:p14="http://schemas.microsoft.com/office/powerpoint/2010/main" val="2483846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EC335E4-C6A4-4911-A43E-14D91964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28090"/>
                </a:solidFill>
                <a:latin typeface="Arial"/>
                <a:ea typeface="Arial"/>
                <a:cs typeface="Arial"/>
              </a:rPr>
              <a:t>EVIDENCE — CHATBOX DEMO (§12)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557D9BD-56C8-42AA-8E5D-3537877F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Widget ipywidgets + chat nhận reply thật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41AC2BD-2469-496D-B29D-8C99BA9F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2040"/>
            <a:ext cx="5486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AI08 Workshop  •  Screen Watcher Pro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6BDF07E-4D33-4B1B-B1D2-C4180726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92040"/>
            <a:ext cx="320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f22305884140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234440"/>
            <a:ext cx="8229600" cy="3236976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2378A33-E0EF-421B-B734-74158A43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64748B"/>
                </a:solidFill>
                <a:latin typeface="Arial"/>
                <a:ea typeface="Arial"/>
                <a:cs typeface="Arial"/>
              </a:rPr>
              <a:t>Chat UI: history + input + nút Send + toggle “Include latest watcher context”. Scripted demo: hỏi “Trạng thái watcher gần nhất là gì?” và nhận reply từ server (mock mode, không cần provider thật).</a:t>
            </a:r>
          </a:p>
        </p:txBody>
      </p:sp>
    </p:spTree>
    <p:extLst>
      <p:ext uri="{BB962C8B-B14F-4D97-AF65-F5344CB8AC3E}">
        <p14:creationId xmlns:p14="http://schemas.microsoft.com/office/powerpoint/2010/main" val="8135115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E5859DF-0AD3-445C-A54F-AD1BE87E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28090"/>
                </a:solidFill>
                <a:latin typeface="Arial"/>
                <a:ea typeface="Arial"/>
                <a:cs typeface="Arial"/>
              </a:rPr>
              <a:t>EVIDENCE — CONTEXT &amp; TEST SUITE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DFB3E42-DE7C-442E-A82D-DAB2B8C9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Latest watcher result + 37/37 test pass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58CD365-4D6E-4B07-9B50-BCCEFA61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2040"/>
            <a:ext cx="5486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AI08 Workshop  •  Screen Watcher Pro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E9403D1-68A1-425A-B321-0A82C9B3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92040"/>
            <a:ext cx="320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000a375404f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188720"/>
            <a:ext cx="4023360" cy="1371600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A6F6BBE-DA44-401E-A98E-344D8754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51760"/>
            <a:ext cx="4023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4748B"/>
                </a:solidFill>
                <a:latin typeface="Arial"/>
                <a:ea typeface="Arial"/>
                <a:cs typeface="Arial"/>
              </a:rPr>
              <a:t>GET /api/watcher/executions/latest — rule “Daily sync failed” [high] matched, OCR đọc được lỗi kết nối payment-gateway.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5723AF2-39AB-4E57-B0A9-BFFB6112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4023360" cy="118872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62050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B5CAEBF-0D40-4C34-8473-A9DE5E55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03320"/>
            <a:ext cx="37490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CADCFC"/>
                </a:solidFill>
                <a:latin typeface="Arial"/>
                <a:ea typeface="Arial"/>
                <a:cs typeface="Arial"/>
              </a:rPr>
              <a:t>Prompt §11.3 nhận context này:</a:t>
            </a:r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FE6D8"/>
                </a:solidFill>
                <a:latin typeface="Consolas"/>
                <a:ea typeface="Consolas"/>
                <a:cs typeface="Consolas"/>
              </a:rPr>
              <a:t>OCR text: {{ocr_text}}</a:t>
            </a:r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FE6D8"/>
                </a:solidFill>
                <a:latin typeface="Consolas"/>
                <a:ea typeface="Consolas"/>
                <a:cs typeface="Consolas"/>
              </a:rPr>
              <a:t>Matched rules: {{matched_rules}}</a:t>
            </a:r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FE6D8"/>
                </a:solidFill>
                <a:latin typeface="Consolas"/>
                <a:ea typeface="Consolas"/>
                <a:cs typeface="Consolas"/>
              </a:rPr>
              <a:t>Execution time / Email status: {{...}}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E414FFB-66AB-45BD-A2D5-875283BC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188720"/>
            <a:ext cx="11887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55CD9A0-49EF-4ACC-8814-34387A8F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234440"/>
            <a:ext cx="1188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028090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BEE2D85-D632-463B-9650-1E748B20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783080"/>
            <a:ext cx="1188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test PASS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D02EA5B-DCF7-47EB-ACCC-F1B339EF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188720"/>
            <a:ext cx="11887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C2807EB-5F78-44D7-A241-5166D096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234440"/>
            <a:ext cx="1188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02809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9528132-C50E-4935-A572-99875B7C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783080"/>
            <a:ext cx="1188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module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F8AE554A-2B5F-445F-AEA3-4B2CFC32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188720"/>
            <a:ext cx="12801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B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73A7D6C-2975-4666-B7A3-971551C6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234440"/>
            <a:ext cx="12801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0280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841F6E1-6CC0-4FF7-B422-88CF5912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78308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provider thật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117644A-7D6E-4CFB-8B84-F14AB24F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286000"/>
            <a:ext cx="3931920" cy="2514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Unit + Integration Test (§18)</a:t>
            </a:r>
          </a:p>
          <a:p xmlns:a="http://schemas.openxmlformats.org/drawingml/2006/main">
            <a:pPr marL="342900" indent="-342900">
              <a:buChar char="•"/>
            </a:pPr>
            <a:r>
              <a:rPr sz="1050">
                <a:solidFill>
                  <a:srgbClr val="1E293B"/>
                </a:solidFill>
                <a:latin typeface="Arial"/>
                <a:ea typeface="Arial"/>
                <a:cs typeface="Arial"/>
              </a:rPr>
              <a:t>Prompt Builder, model mapping, timeout, exit lỗi — qua fake OpenCode CLI</a:t>
            </a:r>
          </a:p>
          <a:p xmlns:a="http://schemas.openxmlformats.org/drawingml/2006/main">
            <a:pPr marL="342900" indent="-342900">
              <a:buChar char="•"/>
            </a:pPr>
            <a:r>
              <a:rPr sz="1050">
                <a:solidFill>
                  <a:srgbClr val="1E293B"/>
                </a:solidFill>
                <a:latin typeface="Arial"/>
                <a:ea typeface="Arial"/>
                <a:cs typeface="Arial"/>
              </a:rPr>
              <a:t>Engine switch sdk|opencode, mock mode, config validate</a:t>
            </a:r>
          </a:p>
          <a:p xmlns:a="http://schemas.openxmlformats.org/drawingml/2006/main">
            <a:pPr marL="342900" indent="-342900">
              <a:buChar char="•"/>
            </a:pPr>
            <a:r>
              <a:rPr sz="1050">
                <a:solidFill>
                  <a:srgbClr val="1E293B"/>
                </a:solidFill>
                <a:latin typeface="Arial"/>
                <a:ea typeface="Arial"/>
                <a:cs typeface="Arial"/>
              </a:rPr>
              <a:t>Notebook flow end-to-end: uvicorn thật, DB tạm, login → chat → latest</a:t>
            </a:r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28090"/>
                </a:solidFill>
                <a:latin typeface="Arial"/>
                <a:ea typeface="Arial"/>
                <a:cs typeface="Arial"/>
              </a:rPr>
              <a:t>Kết luận testability (§14): </a:t>
            </a:r>
          </a:p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4748B"/>
                </a:solidFill>
                <a:latin typeface="Arial"/>
                <a:ea typeface="Arial"/>
                <a:cs typeface="Arial"/>
              </a:rPr>
              <a:t>mock adapter đủ để chạy toàn bộ CI mà không cần provider/API key thật.</a:t>
            </a:r>
          </a:p>
        </p:txBody>
      </p:sp>
    </p:spTree>
    <p:extLst>
      <p:ext uri="{BB962C8B-B14F-4D97-AF65-F5344CB8AC3E}">
        <p14:creationId xmlns:p14="http://schemas.microsoft.com/office/powerpoint/2010/main" val="166910636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99A9FC8-C8EA-444F-80B3-13F7A5C3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28090"/>
                </a:solidFill>
                <a:latin typeface="Arial"/>
                <a:ea typeface="Arial"/>
                <a:cs typeface="Arial"/>
              </a:rPr>
              <a:t>§18–19  TESTING STRATEGY &amp; RISK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9E29D2F-4F73-4E17-A3FF-A9346302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Loại test và rủi ro chính cần kiểm soát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DCF50EA-3F46-458F-B140-1E1555D0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2040"/>
            <a:ext cx="5486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AI08 Workshop  •  Screen Watcher Pro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CBB7395-028F-4079-8A24-9D7DD20B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92040"/>
            <a:ext cx="320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1" name="Table 0"/>
          <p:cNvGraphicFramePr/>
          <p:nvPr/>
        </p:nvGraphicFramePr>
        <p:xfrm>
          <a:off xmlns:a="http://schemas.openxmlformats.org/drawingml/2006/main" x="457200" y="1188720"/>
          <a:ext xmlns:a="http://schemas.openxmlformats.org/drawingml/2006/main" cx="82296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20240"/>
                <a:gridCol w="2651760"/>
                <a:gridCol w="3657600"/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Impact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Mitigation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OpenCode CLI timeout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Client chờ lâu, lỗi demo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Cấu hình timeout + mock mode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Provider config sai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Không gọi được AI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Validate config khi start server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OCR context quá dài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Prompt vượt giới hạn model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max_context_chars + summarize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AI hallucination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Trả lời không dựa trên dữ liệu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Prompt yêu cầu nói rõ khi thiếu dữ liệu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Notebook widget lỗi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Demo không mượt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Fallback input() loop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5DBE8"/>
                      </a:solidFill>
                      <a:prstDash val="solid"/>
                    </a:lnL>
                    <a:lnR w="6350" cmpd="sng">
                      <a:solidFill>
                        <a:srgbClr val="D5DBE8"/>
                      </a:solidFill>
                      <a:prstDash val="solid"/>
                    </a:lnR>
                    <a:lnT w="6350" cmpd="sng">
                      <a:solidFill>
                        <a:srgbClr val="D5DBE8"/>
                      </a:solidFill>
                      <a:prstDash val="solid"/>
                    </a:lnT>
                    <a:lnB w="6350" cmpd="sng">
                      <a:solidFill>
                        <a:srgbClr val="D5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80049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8A30BDD-65A0-4708-8370-70B993E5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28090"/>
                </a:solidFill>
                <a:latin typeface="Arial"/>
                <a:ea typeface="Arial"/>
                <a:cs typeface="Arial"/>
              </a:rPr>
              <a:t>§20  MVP PLAN &amp; ROADMAP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77F557D-FBC5-4836-8652-DE8224E8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4 phase từ demo MVP đến AI Operation Platform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AA7AE9B-4655-4ADE-8808-61C3E827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2040"/>
            <a:ext cx="5486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AI08 Workshop  •  Screen Watcher Pro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F8D760E-0DF7-4320-94E6-019090CB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92040"/>
            <a:ext cx="320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2C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CAD0B42-6EDA-427E-94C5-17F6A96A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0160"/>
            <a:ext cx="1920240" cy="265176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28090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2F82117-6C45-4FAA-979C-5A87FE48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371600"/>
            <a:ext cx="168249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2CEC8E1-ED04-4D5F-A3FC-5E4F7692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737360"/>
            <a:ext cx="1682496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0F7F8"/>
                </a:solidFill>
                <a:latin typeface="Arial"/>
                <a:ea typeface="Arial"/>
                <a:cs typeface="Arial"/>
              </a:rPr>
              <a:t>API Server, Jupyter Chatbox,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0F7F8"/>
                </a:solidFill>
                <a:latin typeface="Arial"/>
                <a:ea typeface="Arial"/>
                <a:cs typeface="Arial"/>
              </a:rPr>
              <a:t>OpenCode CLI Adapter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E2569AD-2800-4A0D-95A4-91DBBD88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3246120"/>
            <a:ext cx="168249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 MVP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D1B6217-0AFA-4D9F-8647-40EF530E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606040"/>
            <a:ext cx="1645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64748B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5D182ED-0E1A-4718-853E-E9E8C851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1280160"/>
            <a:ext cx="1920240" cy="265176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E2761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D81EF01-4934-4890-B587-AEC52BF9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904" y="1371600"/>
            <a:ext cx="168249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2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FBB9AD6-AFBB-4E0F-A4AA-16717EC7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904" y="1737360"/>
            <a:ext cx="1682496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Arial"/>
                <a:ea typeface="Arial"/>
                <a:cs typeface="Arial"/>
              </a:rPr>
              <a:t>Conversation Store, Streaming,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Arial"/>
                <a:ea typeface="Arial"/>
                <a:cs typeface="Arial"/>
              </a:rPr>
              <a:t>Retry, better prompt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6EBB875-3FD4-4612-8950-22F1A20B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904" y="3246120"/>
            <a:ext cx="168249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CADCFC"/>
                </a:solidFill>
                <a:latin typeface="Arial"/>
                <a:ea typeface="Arial"/>
                <a:cs typeface="Arial"/>
              </a:rPr>
              <a:t>Trải nghiệm chat tốt hơn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F0C5C24-6F1F-4EEE-91BE-5D9B924E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606040"/>
            <a:ext cx="1645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64748B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5CA7D8F-688E-47CA-9FD5-D5B994E0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1280160"/>
            <a:ext cx="1920240" cy="265176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E2761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870E652-C8CC-4D38-A864-22CB737D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1371600"/>
            <a:ext cx="168249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53F08CD-9710-40C2-9254-E408E784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1737360"/>
            <a:ext cx="1682496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Arial"/>
                <a:ea typeface="Arial"/>
                <a:cs typeface="Arial"/>
              </a:rPr>
              <a:t>Web UI, Auth, multi user,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Arial"/>
                <a:ea typeface="Arial"/>
                <a:cs typeface="Arial"/>
              </a:rPr>
              <a:t>audit viewer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972AE4A-0DC5-4F9A-9960-2069D266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3246120"/>
            <a:ext cx="168249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CADCFC"/>
                </a:solidFill>
                <a:latin typeface="Arial"/>
                <a:ea typeface="Arial"/>
                <a:cs typeface="Arial"/>
              </a:rPr>
              <a:t>Internal product usable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B052810-EE71-4077-9961-37AB555B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606040"/>
            <a:ext cx="1645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64748B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62F321F-E02F-4596-BA17-8EFA2E6C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1280160"/>
            <a:ext cx="1920240" cy="265176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E2761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9DF3652-3327-4AD5-B853-4C29FC65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1371600"/>
            <a:ext cx="168249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4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826A592-3768-4B2B-9C40-244D260B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1737360"/>
            <a:ext cx="1682496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Arial"/>
                <a:ea typeface="Arial"/>
                <a:cs typeface="Arial"/>
              </a:rPr>
              <a:t>RAG, MCP, workflow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Arial"/>
                <a:ea typeface="Arial"/>
                <a:cs typeface="Arial"/>
              </a:rPr>
              <a:t>automation, action suggestion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AA1DAC4-958C-4063-9769-2A9C3A2A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246120"/>
            <a:ext cx="168249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CADCFC"/>
                </a:solidFill>
                <a:latin typeface="Arial"/>
                <a:ea typeface="Arial"/>
                <a:cs typeface="Arial"/>
              </a:rPr>
              <a:t>AI Operation Platform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8CAC478-D2D5-48DD-AD99-4C17F772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05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MVP Definition (§20.1): </a:t>
            </a:r>
            <a:r>
              <a:rPr sz="1100">
                <a:solidFill>
                  <a:srgbClr val="1E293B"/>
                </a:solidFill>
                <a:latin typeface="Arial"/>
                <a:ea typeface="Arial"/>
                <a:cs typeface="Arial"/>
              </a:rPr>
              <a:t>FastAPI local, /health + /chat hoạt động, Jupyter chatbox gửi/nhận, OpenCode CLI với provider cấu hình, logging/timeout/error cơ bản.</a:t>
            </a:r>
          </a:p>
        </p:txBody>
      </p:sp>
    </p:spTree>
    <p:extLst>
      <p:ext uri="{BB962C8B-B14F-4D97-AF65-F5344CB8AC3E}">
        <p14:creationId xmlns:p14="http://schemas.microsoft.com/office/powerpoint/2010/main" val="12102030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4F9B58E-CC5C-47A7-8F26-36A52430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2040"/>
            <a:ext cx="5486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B7BB8"/>
                </a:solidFill>
                <a:latin typeface="Arial"/>
                <a:ea typeface="Arial"/>
                <a:cs typeface="Arial"/>
              </a:rPr>
              <a:t>AI08 Workshop  •  Screen Watcher Pro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AA05F3C-D05C-4473-92FF-118C6336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92040"/>
            <a:ext cx="320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BB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13184BF-568A-4B0C-BDC6-F059230F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300">
                <a:solidFill>
                  <a:srgbClr val="CADCFC"/>
                </a:solidFill>
                <a:latin typeface="Arial"/>
                <a:ea typeface="Arial"/>
                <a:cs typeface="Arial"/>
              </a:rPr>
              <a:t>§20.3  WORKSHOP STORYLINE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53FAD37-7AC0-4DD4-97B5-C7175FA6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77240"/>
            <a:ext cx="7863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Từ vấn đề đến giá trị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5FFF9C6-475B-47F9-BB3D-541A657A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9A7366C-FA18-4548-8233-12C612AE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D0767CF-5D77-4279-A313-B88E531F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481328"/>
            <a:ext cx="7406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Arial"/>
                <a:ea typeface="Arial"/>
                <a:cs typeface="Arial"/>
              </a:rPr>
              <a:t>Vấn đề: hệ thống legacy chỉ có màn hình, khó giám sát bằng API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C3F8397-4D7F-47AA-BF44-2CE258B7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6BD5861-C4E1-4B7E-AFFC-17055393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8EE3EA6-17FF-496C-97E0-64D9FB4A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938528"/>
            <a:ext cx="7406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Arial"/>
                <a:ea typeface="Arial"/>
                <a:cs typeface="Arial"/>
              </a:rPr>
              <a:t>Tool gốc: Screen Watcher chụp màn hình, OCR, kiểm tra rule, gửi email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69C521A-69A9-48D8-A5D8-FF502DBD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CA9F186-5DED-4670-AB2F-AE5A92C7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4B3464D-9ABD-4AE5-821E-82333242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395728"/>
            <a:ext cx="7406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Arial"/>
                <a:ea typeface="Arial"/>
                <a:cs typeface="Arial"/>
              </a:rPr>
              <a:t>Mở rộng: expose API và chatbox bằng Jupyter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64D6862-13D0-4ED8-AC3D-E1A8421E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73FB255-EFDE-448F-81A2-AC7520BE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C89F5C4-DA5D-4FD2-A316-ABFC11AC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52928"/>
            <a:ext cx="7406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Arial"/>
                <a:ea typeface="Arial"/>
                <a:cs typeface="Arial"/>
              </a:rPr>
              <a:t>AI: OpenCode CLI gọi Llama hoặc Azure OpenAI để phân tích context watcher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6198453-2CF2-4D50-9118-C9E5E084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C2DB170-3CAD-4082-B0E3-A5CE725B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9027799-C2F5-4406-A47D-61739420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310128"/>
            <a:ext cx="7406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Arial"/>
                <a:ea typeface="Arial"/>
                <a:cs typeface="Arial"/>
              </a:rPr>
              <a:t>Giá trị: từ screen monitoring đến AI assisted operation chat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2E232E8-896C-4B97-8903-B717B14E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78638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Kết luận: </a:t>
            </a:r>
            <a:r>
              <a:rPr sz="1250">
                <a:solidFill>
                  <a:srgbClr val="CADCFC"/>
                </a:solidFill>
                <a:latin typeface="Arial"/>
                <a:ea typeface="Arial"/>
                <a:cs typeface="Arial"/>
              </a:rPr>
              <a:t>phần mở rộng minh họa cách nhóm dùng AI xuyên suốt vòng đời sản phẩm — phân tích, thiết kế, lập trình, kiểm thử, demo và trình bày kết quả.</a:t>
            </a:r>
          </a:p>
        </p:txBody>
      </p:sp>
    </p:spTree>
    <p:extLst>
      <p:ext uri="{BB962C8B-B14F-4D97-AF65-F5344CB8AC3E}">
        <p14:creationId xmlns:p14="http://schemas.microsoft.com/office/powerpoint/2010/main" val="19597409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46AD36-BF2C-4767-A88A-DFFD4B99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</a:defRPr>
            </a:pPr>
            <a:r>
              <a:rPr sz="1050" b="1">
                <a:solidFill>
                  <a:srgbClr val="38BDF8"/>
                </a:solidFill>
              </a:rPr>
              <a:t>AI CHAT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93EC2-DFDE-41A6-BD1F-975560D5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28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Controlled assistant for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39246-0166-4EEA-902F-87EC5821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Two required prompts show value and guardrails: operational assessment is allowed; general cooking advice is refused.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389FA-4CFB-4763-9EA3-49F82D1F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905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DDAB4-344C-4551-9A43-54609060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DD3FC"/>
                </a:solidFill>
              </a:defRPr>
            </a:pPr>
            <a:r>
              <a:rPr sz="1350" b="1">
                <a:solidFill>
                  <a:srgbClr val="7DD3FC"/>
                </a:solidFill>
              </a:rPr>
              <a:t>1  In scope: operational issue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B6DA4-8FD7-42C9-9E4E-300EDD5F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</a:defRPr>
            </a:pPr>
            <a:r>
              <a:rPr sz="1050" b="1">
                <a:solidFill>
                  <a:srgbClr val="CBD5E1"/>
                </a:solidFill>
              </a:rPr>
              <a:t>User asks: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C0700-BB04-4694-A9AD-9446FE32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Issue hiện tại đang là gì?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573D8-B71F-40A0-B2E0-A789C5BB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21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5E7EB"/>
                </a:solidFill>
              </a:defRPr>
            </a:pPr>
            <a:r>
              <a:rPr sz="1125" b="0">
                <a:solidFill>
                  <a:srgbClr val="E5E7EB"/>
                </a:solidFill>
              </a:rPr>
              <a:t>Expected behavior: assistant reads the latest watcher context and summarizes OCR, matched rules, severity, email/cooldown decision, or says there is not enough 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64FAF-E04C-4133-808E-31832D40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19250"/>
            <a:ext cx="3905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5495A-BAD6-4E4F-9B0A-961261DB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8288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DBA74"/>
                </a:solidFill>
              </a:defRPr>
            </a:pPr>
            <a:r>
              <a:rPr sz="1350" b="1">
                <a:solidFill>
                  <a:srgbClr val="FDBA74"/>
                </a:solidFill>
              </a:rPr>
              <a:t>2  Out of scope: controlled refusal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672FF-B6BA-4C06-B39A-82EF7538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</a:defRPr>
            </a:pPr>
            <a:r>
              <a:rPr sz="1050" b="1">
                <a:solidFill>
                  <a:srgbClr val="CBD5E1"/>
                </a:solidFill>
              </a:rPr>
              <a:t>User asks: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DDADA-22BC-4030-9B68-923C405E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574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cách nấu thịt kho tàu thế nào?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5D4967-550A-4F41-9020-B52C7079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14650"/>
            <a:ext cx="321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E7EB"/>
                </a:solidFill>
              </a:defRPr>
            </a:pPr>
            <a:r>
              <a:rPr sz="1050" b="0">
                <a:solidFill>
                  <a:srgbClr val="E5E7EB"/>
                </a:solidFill>
              </a:rPr>
              <a:t>Required response: “Câu hỏi này nằm ngoài phạm vi hỗ trợ của Tool Watcher Assistant. Vui lòng hỏi về kết quả giám sát, OCR, rule hoặc trạng thái hệ thống.”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DEDDA8-44ED-484F-B3BF-18D404EA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95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Evidence path: docs-bo-sung-chuc-nang/evidence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5d3559ff94af4"/>
          <a:srcRect xmlns:a="http://schemas.openxmlformats.org/drawingml/2006/main" l="0" t="27947" r="0" b="279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4248150"/>
            <a:ext cx="3905250" cy="590550"/>
          </a:xfrm>
          <a:prstGeom xmlns:a="http://schemas.openxmlformats.org/drawingml/2006/main" prst="roundRect">
            <a:avLst>
              <a:gd name="adj" fmla="val 9677"/>
            </a:avLst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331848d9d4775"/>
          <a:srcRect xmlns:a="http://schemas.openxmlformats.org/drawingml/2006/main" l="0" t="30754" r="0" b="307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81550" y="4248150"/>
            <a:ext cx="3905250" cy="590550"/>
          </a:xfrm>
          <a:prstGeom xmlns:a="http://schemas.openxmlformats.org/drawingml/2006/main" prst="roundRect">
            <a:avLst>
              <a:gd name="adj" fmla="val 9677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50EEFC-DADA-4BE1-B8E7-3DD77760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AI08 Workshop • Screen Watcher Pro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BB7B46-0985-495F-BEE7-CDAFC0FD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339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ver: demo guardrail</a:t>
            </a:r>
          </a:p>
        </p:txBody>
      </p:sp>
    </p:spTree>
    <p:extLst>
      <p:ext uri="{BB962C8B-B14F-4D97-AF65-F5344CB8AC3E}">
        <p14:creationId xmlns:p14="http://schemas.microsoft.com/office/powerpoint/2010/main" val="57076204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2026-07-03T03:52:09.6560000Z</dcterms:created>
  <dcterms:modified xsi:type="dcterms:W3CDTF">2026-07-03T03:52:09.6570000Z</dcterms:modified>
</coreProperties>
</file>